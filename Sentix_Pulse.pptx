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1" r:id="rId1"/>
  </p:sldMasterIdLst>
  <p:notesMasterIdLst>
    <p:notesMasterId r:id="rId19"/>
  </p:notesMasterIdLst>
  <p:sldIdLst>
    <p:sldId id="256" r:id="rId2"/>
    <p:sldId id="267" r:id="rId3"/>
    <p:sldId id="257" r:id="rId4"/>
    <p:sldId id="259" r:id="rId5"/>
    <p:sldId id="318" r:id="rId6"/>
    <p:sldId id="320" r:id="rId7"/>
    <p:sldId id="319" r:id="rId8"/>
    <p:sldId id="321" r:id="rId9"/>
    <p:sldId id="328" r:id="rId10"/>
    <p:sldId id="322" r:id="rId11"/>
    <p:sldId id="329" r:id="rId12"/>
    <p:sldId id="323" r:id="rId13"/>
    <p:sldId id="313" r:id="rId14"/>
    <p:sldId id="330" r:id="rId15"/>
    <p:sldId id="331" r:id="rId16"/>
    <p:sldId id="332" r:id="rId17"/>
    <p:sldId id="268" r:id="rId1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E83A6EB2-7D62-493C-A5BC-F7F2D8A9DAD6}">
          <p14:sldIdLst>
            <p14:sldId id="256"/>
            <p14:sldId id="267"/>
            <p14:sldId id="257"/>
            <p14:sldId id="259"/>
            <p14:sldId id="318"/>
            <p14:sldId id="320"/>
            <p14:sldId id="319"/>
            <p14:sldId id="321"/>
            <p14:sldId id="328"/>
            <p14:sldId id="322"/>
            <p14:sldId id="329"/>
            <p14:sldId id="323"/>
            <p14:sldId id="313"/>
            <p14:sldId id="330"/>
            <p14:sldId id="331"/>
            <p14:sldId id="332"/>
            <p14:sldId id="26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59" autoAdjust="0"/>
    <p:restoredTop sz="94660"/>
  </p:normalViewPr>
  <p:slideViewPr>
    <p:cSldViewPr snapToGrid="0">
      <p:cViewPr varScale="1">
        <p:scale>
          <a:sx n="92" d="100"/>
          <a:sy n="92" d="100"/>
        </p:scale>
        <p:origin x="56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B859EF5A-897B-4E7A-8987-72E0BA270BA5}" type="datetimeFigureOut">
              <a:rPr lang="en-US"/>
              <a:pPr>
                <a:defRPr/>
              </a:pPr>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F2906111-89A0-43B7-ADC8-DA25A439EE4A}" type="slidenum">
              <a:rPr lang="en-US"/>
              <a:pPr>
                <a:defRPr/>
              </a:pPr>
              <a:t>‹#›</a:t>
            </a:fld>
            <a:endParaRPr lang="en-US"/>
          </a:p>
        </p:txBody>
      </p:sp>
    </p:spTree>
    <p:extLst>
      <p:ext uri="{BB962C8B-B14F-4D97-AF65-F5344CB8AC3E}">
        <p14:creationId xmlns:p14="http://schemas.microsoft.com/office/powerpoint/2010/main" val="22679269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1434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3858CDF-14E0-4CE0-A79D-B000CC5FC8B9}" type="slidenum">
              <a:rPr lang="en-US" smtClean="0"/>
              <a:pPr fontAlgn="base">
                <a:spcBef>
                  <a:spcPct val="0"/>
                </a:spcBef>
                <a:spcAft>
                  <a:spcPct val="0"/>
                </a:spcAft>
                <a:defRPr/>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C3D197A7-0BB3-4533-ADED-34555E488C9A}" type="datetime1">
              <a:rPr lang="en-US"/>
              <a:pPr>
                <a:defRPr/>
              </a:pPr>
              <a:t>5/6/2026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43DB150C-4E42-4732-B852-F3E2657F504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E959592-D7B5-495C-9D3E-4FF4A78EC3F3}" type="datetime1">
              <a:rPr lang="en-US"/>
              <a:pPr>
                <a:defRPr/>
              </a:pPr>
              <a:t>5/6/2026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81778C72-80D4-44C2-A5C0-B833B330A20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8EA45C4-0041-4BED-9116-B3AFB076AE55}" type="datetime1">
              <a:rPr lang="en-US"/>
              <a:pPr>
                <a:defRPr/>
              </a:pPr>
              <a:t>5/6/2026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A39FF9DD-F899-4DD8-AEC9-E68D1485F8D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00BFCB0D-C287-47C9-884D-992C3D648771}" type="datetime1">
              <a:rPr lang="en-US"/>
              <a:pPr>
                <a:defRPr/>
              </a:pPr>
              <a:t>5/6/2026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Dept. of CSE, SJCIT</a:t>
            </a:r>
          </a:p>
        </p:txBody>
      </p:sp>
      <p:sp>
        <p:nvSpPr>
          <p:cNvPr id="7" name="Slide Number Placeholder 5"/>
          <p:cNvSpPr>
            <a:spLocks noGrp="1"/>
          </p:cNvSpPr>
          <p:nvPr>
            <p:ph type="sldNum" sz="quarter" idx="12"/>
          </p:nvPr>
        </p:nvSpPr>
        <p:spPr/>
        <p:txBody>
          <a:bodyPr/>
          <a:lstStyle>
            <a:lvl1pPr>
              <a:defRPr/>
            </a:lvl1pPr>
          </a:lstStyle>
          <a:p>
            <a:pPr>
              <a:defRPr/>
            </a:pPr>
            <a:fld id="{B9907319-E605-4C82-8804-679D4188845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8BBF02D5-F3FC-4A67-9A69-BE8185B4A293}" type="datetime1">
              <a:rPr lang="en-US"/>
              <a:pPr>
                <a:defRPr/>
              </a:pPr>
              <a:t>5/6/2026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Dept. of CSE, SJCIT</a:t>
            </a:r>
          </a:p>
        </p:txBody>
      </p:sp>
      <p:sp>
        <p:nvSpPr>
          <p:cNvPr id="9" name="Slide Number Placeholder 5"/>
          <p:cNvSpPr>
            <a:spLocks noGrp="1"/>
          </p:cNvSpPr>
          <p:nvPr>
            <p:ph type="sldNum" sz="quarter" idx="12"/>
          </p:nvPr>
        </p:nvSpPr>
        <p:spPr/>
        <p:txBody>
          <a:bodyPr/>
          <a:lstStyle>
            <a:lvl1pPr>
              <a:defRPr/>
            </a:lvl1pPr>
          </a:lstStyle>
          <a:p>
            <a:pPr>
              <a:defRPr/>
            </a:pPr>
            <a:fld id="{A74AB872-5383-48F3-995F-18EDF236200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3BBB8EE9-607A-457A-8B2A-B3AF2D4C6A81}" type="datetime1">
              <a:rPr lang="en-US"/>
              <a:pPr>
                <a:defRPr/>
              </a:pPr>
              <a:t>5/6/2026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Dept. of CSE, SJCIT</a:t>
            </a:r>
          </a:p>
        </p:txBody>
      </p:sp>
      <p:sp>
        <p:nvSpPr>
          <p:cNvPr id="5" name="Slide Number Placeholder 5"/>
          <p:cNvSpPr>
            <a:spLocks noGrp="1"/>
          </p:cNvSpPr>
          <p:nvPr>
            <p:ph type="sldNum" sz="quarter" idx="12"/>
          </p:nvPr>
        </p:nvSpPr>
        <p:spPr/>
        <p:txBody>
          <a:bodyPr/>
          <a:lstStyle>
            <a:lvl1pPr>
              <a:defRPr/>
            </a:lvl1pPr>
          </a:lstStyle>
          <a:p>
            <a:pPr>
              <a:defRPr/>
            </a:pPr>
            <a:fld id="{9DD35C92-ACCB-447D-B829-D51BBBFE6EFF}"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6FADFB0-2F8C-415B-8838-7A44004B50D2}" type="datetime1">
              <a:rPr lang="en-US"/>
              <a:pPr>
                <a:defRPr/>
              </a:pPr>
              <a:t>5/6/2026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Dept. of CSE, SJCIT</a:t>
            </a:r>
          </a:p>
        </p:txBody>
      </p:sp>
      <p:sp>
        <p:nvSpPr>
          <p:cNvPr id="4" name="Slide Number Placeholder 5"/>
          <p:cNvSpPr>
            <a:spLocks noGrp="1"/>
          </p:cNvSpPr>
          <p:nvPr>
            <p:ph type="sldNum" sz="quarter" idx="12"/>
          </p:nvPr>
        </p:nvSpPr>
        <p:spPr/>
        <p:txBody>
          <a:bodyPr/>
          <a:lstStyle>
            <a:lvl1pPr>
              <a:defRPr/>
            </a:lvl1pPr>
          </a:lstStyle>
          <a:p>
            <a:pPr>
              <a:defRPr/>
            </a:pPr>
            <a:fld id="{49523D1E-D3B1-4E89-BB26-D8075D63C344}"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D78CD27-FD07-4521-BC56-A72D7C3EF988}" type="datetime1">
              <a:rPr lang="en-US"/>
              <a:pPr>
                <a:defRPr/>
              </a:pPr>
              <a:t>5/6/2026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Dept. of CSE, SJCIT</a:t>
            </a:r>
          </a:p>
        </p:txBody>
      </p:sp>
      <p:sp>
        <p:nvSpPr>
          <p:cNvPr id="7" name="Slide Number Placeholder 5"/>
          <p:cNvSpPr>
            <a:spLocks noGrp="1"/>
          </p:cNvSpPr>
          <p:nvPr>
            <p:ph type="sldNum" sz="quarter" idx="12"/>
          </p:nvPr>
        </p:nvSpPr>
        <p:spPr/>
        <p:txBody>
          <a:bodyPr/>
          <a:lstStyle>
            <a:lvl1pPr>
              <a:defRPr/>
            </a:lvl1pPr>
          </a:lstStyle>
          <a:p>
            <a:pPr>
              <a:defRPr/>
            </a:pPr>
            <a:fld id="{BB162F6F-03AC-4078-AA59-519032B66C8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9C91DD7-C648-4E6B-89F1-83D0CF2CFB64}" type="datetime1">
              <a:rPr lang="en-US"/>
              <a:pPr>
                <a:defRPr/>
              </a:pPr>
              <a:t>5/6/2026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Dept. of CSE, SJCIT</a:t>
            </a:r>
          </a:p>
        </p:txBody>
      </p:sp>
      <p:sp>
        <p:nvSpPr>
          <p:cNvPr id="7" name="Slide Number Placeholder 5"/>
          <p:cNvSpPr>
            <a:spLocks noGrp="1"/>
          </p:cNvSpPr>
          <p:nvPr>
            <p:ph type="sldNum" sz="quarter" idx="12"/>
          </p:nvPr>
        </p:nvSpPr>
        <p:spPr/>
        <p:txBody>
          <a:bodyPr/>
          <a:lstStyle>
            <a:lvl1pPr>
              <a:defRPr/>
            </a:lvl1pPr>
          </a:lstStyle>
          <a:p>
            <a:pPr>
              <a:defRPr/>
            </a:pPr>
            <a:fld id="{9654373D-11C6-450E-B824-71FBCFB22253}"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441531C-55B3-43A3-94F0-A014F2014A08}" type="datetime1">
              <a:rPr lang="en-US"/>
              <a:pPr>
                <a:defRPr/>
              </a:pPr>
              <a:t>5/6/2026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E5D10FFB-B723-47FA-AE94-2E99EB6648E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AB64823-3F3A-4375-BE64-3E7502D310D5}" type="datetime1">
              <a:rPr lang="en-US"/>
              <a:pPr>
                <a:defRPr/>
              </a:pPr>
              <a:t>5/6/2026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Dept. of CSE, SJCIT</a:t>
            </a:r>
          </a:p>
        </p:txBody>
      </p:sp>
      <p:sp>
        <p:nvSpPr>
          <p:cNvPr id="6" name="Slide Number Placeholder 5"/>
          <p:cNvSpPr>
            <a:spLocks noGrp="1"/>
          </p:cNvSpPr>
          <p:nvPr>
            <p:ph type="sldNum" sz="quarter" idx="12"/>
          </p:nvPr>
        </p:nvSpPr>
        <p:spPr/>
        <p:txBody>
          <a:bodyPr/>
          <a:lstStyle>
            <a:lvl1pPr>
              <a:defRPr/>
            </a:lvl1pPr>
          </a:lstStyle>
          <a:p>
            <a:pPr>
              <a:defRPr/>
            </a:pPr>
            <a:fld id="{4AE3F581-0D82-4287-82E1-346AE1C0151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dirty="0"/>
              <a:t>Dept.</a:t>
            </a:r>
            <a:r>
              <a:rPr spc="-50" dirty="0"/>
              <a:t> </a:t>
            </a:r>
            <a:r>
              <a:rPr dirty="0"/>
              <a:t>of CSE,</a:t>
            </a:r>
            <a:r>
              <a:rPr spc="-15" dirty="0"/>
              <a:t> </a:t>
            </a:r>
            <a:r>
              <a:rPr spc="-20" dirty="0"/>
              <a:t>SJCIT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5/6/2026</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25" dirty="0"/>
              <a:t>‹#›</a:t>
            </a:fld>
            <a:endParaRPr spc="-25" dirty="0"/>
          </a:p>
        </p:txBody>
      </p:sp>
    </p:spTree>
    <p:extLst>
      <p:ext uri="{BB962C8B-B14F-4D97-AF65-F5344CB8AC3E}">
        <p14:creationId xmlns:p14="http://schemas.microsoft.com/office/powerpoint/2010/main" val="35696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600200"/>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BAD26758-FD56-4D80-8060-A71EAB9C0856}" type="datetime1">
              <a:rPr lang="en-US"/>
              <a:pPr>
                <a:defRPr/>
              </a:pPr>
              <a:t>5/6/2026</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r>
              <a:rPr lang="en-US"/>
              <a:t>Dept. of CSE, SJCIT</a:t>
            </a:r>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F93DA94D-2222-4437-96EC-3C570EFD98C1}" type="slidenum">
              <a:rPr lang="en-US"/>
              <a:pPr>
                <a:defRPr/>
              </a:pPr>
              <a:t>‹#›</a:t>
            </a:fld>
            <a:endParaRPr lang="en-US"/>
          </a:p>
        </p:txBody>
      </p:sp>
      <p:pic>
        <p:nvPicPr>
          <p:cNvPr id="1031" name="Picture 6"/>
          <p:cNvPicPr>
            <a:picLocks noChangeAspect="1"/>
          </p:cNvPicPr>
          <p:nvPr userDrawn="1"/>
        </p:nvPicPr>
        <p:blipFill>
          <a:blip r:embed="rId14"/>
          <a:srcRect/>
          <a:stretch>
            <a:fillRect/>
          </a:stretch>
        </p:blipFill>
        <p:spPr bwMode="auto">
          <a:xfrm>
            <a:off x="10747375" y="0"/>
            <a:ext cx="1444625" cy="11239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3213" y="169863"/>
            <a:ext cx="10507662" cy="1406525"/>
          </a:xfrm>
        </p:spPr>
        <p:txBody>
          <a:bodyPr/>
          <a:lstStyle/>
          <a:p>
            <a:pPr eaLnBrk="1" hangingPunct="1"/>
            <a:r>
              <a:rPr lang="en-US" sz="3200" dirty="0">
                <a:latin typeface="Times New Roman" pitchFamily="18" charset="0"/>
                <a:cs typeface="Times New Roman" pitchFamily="18" charset="0"/>
              </a:rPr>
              <a:t>          </a:t>
            </a:r>
            <a:r>
              <a:rPr lang="en-US" sz="3600" b="1" dirty="0">
                <a:solidFill>
                  <a:srgbClr val="002060"/>
                </a:solidFill>
                <a:latin typeface="Times New Roman" pitchFamily="18" charset="0"/>
                <a:cs typeface="Times New Roman" pitchFamily="18" charset="0"/>
              </a:rPr>
              <a:t>S J C INSTITUTE OF TECHNOLOGY</a:t>
            </a:r>
            <a:br>
              <a:rPr lang="en-US" sz="3200" dirty="0">
                <a:solidFill>
                  <a:srgbClr val="002060"/>
                </a:solidFill>
                <a:latin typeface="Times New Roman" pitchFamily="18" charset="0"/>
                <a:cs typeface="Times New Roman" pitchFamily="18" charset="0"/>
              </a:rPr>
            </a:br>
            <a:r>
              <a:rPr lang="en-US" sz="3200" dirty="0">
                <a:solidFill>
                  <a:srgbClr val="002060"/>
                </a:solidFill>
                <a:latin typeface="Times New Roman" pitchFamily="18" charset="0"/>
                <a:cs typeface="Times New Roman" pitchFamily="18" charset="0"/>
              </a:rPr>
              <a:t>        </a:t>
            </a:r>
            <a:r>
              <a:rPr lang="en-US" sz="2400" b="1" dirty="0">
                <a:solidFill>
                  <a:srgbClr val="002060"/>
                </a:solidFill>
                <a:latin typeface="Times New Roman" pitchFamily="18" charset="0"/>
                <a:cs typeface="Times New Roman" pitchFamily="18" charset="0"/>
              </a:rPr>
              <a:t>DEPARTMENT OF COMPUTER SCIENCE AND ENGINEERING</a:t>
            </a:r>
            <a:endParaRPr lang="en-US" sz="3200" b="1" dirty="0">
              <a:solidFill>
                <a:srgbClr val="002060"/>
              </a:solidFill>
              <a:latin typeface="Times New Roman" pitchFamily="18" charset="0"/>
              <a:cs typeface="Times New Roman" pitchFamily="18" charset="0"/>
            </a:endParaRPr>
          </a:p>
        </p:txBody>
      </p:sp>
      <p:sp>
        <p:nvSpPr>
          <p:cNvPr id="3" name="Subtitle 2"/>
          <p:cNvSpPr>
            <a:spLocks noGrp="1"/>
          </p:cNvSpPr>
          <p:nvPr>
            <p:ph type="subTitle" idx="1"/>
          </p:nvPr>
        </p:nvSpPr>
        <p:spPr>
          <a:xfrm>
            <a:off x="303213" y="1439863"/>
            <a:ext cx="11502707" cy="3757779"/>
          </a:xfrm>
        </p:spPr>
        <p:txBody>
          <a:bodyPr rtlCol="0">
            <a:normAutofit/>
          </a:bodyPr>
          <a:lstStyle/>
          <a:p>
            <a:pPr eaLnBrk="1" fontAlgn="auto" hangingPunct="1">
              <a:spcAft>
                <a:spcPts val="0"/>
              </a:spcAft>
              <a:buFont typeface="Arial" pitchFamily="34" charset="0"/>
              <a:buNone/>
              <a:defRPr/>
            </a:pPr>
            <a:r>
              <a:rPr lang="en-US" sz="2400" dirty="0">
                <a:latin typeface="Times New Roman" pitchFamily="18" charset="0"/>
                <a:cs typeface="Times New Roman" pitchFamily="18" charset="0"/>
              </a:rPr>
              <a:t>The Internship Project Review </a:t>
            </a:r>
          </a:p>
          <a:p>
            <a:pPr eaLnBrk="1" fontAlgn="auto" hangingPunct="1">
              <a:spcAft>
                <a:spcPts val="0"/>
              </a:spcAft>
              <a:buFont typeface="Arial" pitchFamily="34" charset="0"/>
              <a:buNone/>
              <a:defRPr/>
            </a:pPr>
            <a:r>
              <a:rPr lang="en-US" sz="2400" dirty="0">
                <a:latin typeface="Times New Roman" pitchFamily="18" charset="0"/>
                <a:cs typeface="Times New Roman" pitchFamily="18" charset="0"/>
              </a:rPr>
              <a:t>On</a:t>
            </a:r>
          </a:p>
          <a:p>
            <a:r>
              <a:rPr lang="en-US" b="1" dirty="0">
                <a:solidFill>
                  <a:srgbClr val="FF0000"/>
                </a:solidFill>
              </a:rPr>
              <a:t> “</a:t>
            </a:r>
            <a:r>
              <a:rPr lang="en-US" b="1" dirty="0" err="1">
                <a:solidFill>
                  <a:srgbClr val="FF0000"/>
                </a:solidFill>
              </a:rPr>
              <a:t>Sentix</a:t>
            </a:r>
            <a:r>
              <a:rPr lang="en-US" b="1" dirty="0">
                <a:solidFill>
                  <a:srgbClr val="FF0000"/>
                </a:solidFill>
              </a:rPr>
              <a:t> Pulse: Real-Time Sentiment Analyzer for Product Reviews </a:t>
            </a:r>
            <a:r>
              <a:rPr lang="en-US" sz="2400" b="1" dirty="0">
                <a:solidFill>
                  <a:srgbClr val="FF0000"/>
                </a:solidFill>
                <a:latin typeface="Times New Roman" panose="02020603050405020304" pitchFamily="18" charset="0"/>
                <a:cs typeface="Times New Roman" panose="02020603050405020304" pitchFamily="18" charset="0"/>
              </a:rPr>
              <a:t>”</a:t>
            </a:r>
          </a:p>
          <a:p>
            <a:pPr eaLnBrk="1" fontAlgn="auto" hangingPunct="1">
              <a:spcAft>
                <a:spcPts val="0"/>
              </a:spcAft>
              <a:buFont typeface="Arial" pitchFamily="34" charset="0"/>
              <a:buNone/>
              <a:defRPr/>
            </a:pPr>
            <a:endParaRPr lang="en-US" sz="1400" dirty="0">
              <a:solidFill>
                <a:schemeClr val="tx1"/>
              </a:solidFill>
              <a:latin typeface="Times New Roman" panose="02020603050405020304" pitchFamily="18" charset="0"/>
              <a:cs typeface="Times New Roman" panose="02020603050405020304" pitchFamily="18" charset="0"/>
            </a:endParaRPr>
          </a:p>
          <a:p>
            <a:pPr eaLnBrk="1" fontAlgn="auto" hangingPunct="1">
              <a:spcAft>
                <a:spcPts val="0"/>
              </a:spcAft>
              <a:buFont typeface="Arial" pitchFamily="34" charset="0"/>
              <a:buNone/>
              <a:defRPr/>
            </a:pPr>
            <a:r>
              <a:rPr lang="en-US" sz="2000" b="1" dirty="0">
                <a:solidFill>
                  <a:schemeClr val="tx1"/>
                </a:solidFill>
                <a:latin typeface="Times New Roman" panose="02020603050405020304" pitchFamily="18" charset="0"/>
                <a:cs typeface="Times New Roman" panose="02020603050405020304" pitchFamily="18" charset="0"/>
              </a:rPr>
              <a:t>PRESENTED BY</a:t>
            </a:r>
          </a:p>
          <a:p>
            <a:pPr eaLnBrk="1" fontAlgn="auto" hangingPunct="1">
              <a:spcAft>
                <a:spcPts val="0"/>
              </a:spcAft>
              <a:buFont typeface="Arial" pitchFamily="34" charset="0"/>
              <a:buNone/>
              <a:defRPr/>
            </a:pPr>
            <a:r>
              <a:rPr lang="en-US" sz="2000" dirty="0" err="1">
                <a:solidFill>
                  <a:srgbClr val="002060"/>
                </a:solidFill>
                <a:latin typeface="Times New Roman" panose="02020603050405020304" pitchFamily="18" charset="0"/>
                <a:cs typeface="Times New Roman" panose="02020603050405020304" pitchFamily="18" charset="0"/>
              </a:rPr>
              <a:t>Vydurya</a:t>
            </a:r>
            <a:r>
              <a:rPr lang="en-US" sz="2000" dirty="0">
                <a:solidFill>
                  <a:srgbClr val="002060"/>
                </a:solidFill>
                <a:latin typeface="Times New Roman" panose="02020603050405020304" pitchFamily="18" charset="0"/>
                <a:cs typeface="Times New Roman" panose="02020603050405020304" pitchFamily="18" charset="0"/>
              </a:rPr>
              <a:t> G Anand			1SJ22CS183</a:t>
            </a:r>
          </a:p>
          <a:p>
            <a:pPr eaLnBrk="1" fontAlgn="auto" hangingPunct="1">
              <a:spcAft>
                <a:spcPts val="0"/>
              </a:spcAft>
              <a:buFont typeface="Arial" pitchFamily="34" charset="0"/>
              <a:buNone/>
              <a:defRPr/>
            </a:pPr>
            <a:endParaRPr lang="en-US" sz="1500" dirty="0">
              <a:solidFill>
                <a:srgbClr val="002060"/>
              </a:solidFill>
              <a:latin typeface="Times New Roman" panose="02020603050405020304" pitchFamily="18" charset="0"/>
              <a:cs typeface="Times New Roman" panose="02020603050405020304" pitchFamily="18" charset="0"/>
            </a:endParaRPr>
          </a:p>
          <a:p>
            <a:pPr eaLnBrk="1" fontAlgn="auto" hangingPunct="1">
              <a:spcAft>
                <a:spcPts val="0"/>
              </a:spcAft>
              <a:defRPr/>
            </a:pPr>
            <a:r>
              <a:rPr lang="en-IN" sz="2600" b="1" dirty="0">
                <a:solidFill>
                  <a:schemeClr val="accent1"/>
                </a:solidFill>
                <a:latin typeface="Times New Roman" panose="02020603050405020304" pitchFamily="18" charset="0"/>
                <a:cs typeface="Times New Roman" panose="02020603050405020304" pitchFamily="18" charset="0"/>
              </a:rPr>
              <a:t>UNDER THE GUIDANCE OF</a:t>
            </a:r>
          </a:p>
        </p:txBody>
      </p:sp>
      <p:graphicFrame>
        <p:nvGraphicFramePr>
          <p:cNvPr id="2" name="Table 1">
            <a:extLst>
              <a:ext uri="{FF2B5EF4-FFF2-40B4-BE49-F238E27FC236}">
                <a16:creationId xmlns:a16="http://schemas.microsoft.com/office/drawing/2014/main" id="{F357587E-5F00-1D0E-4A61-6C18A0B3007F}"/>
              </a:ext>
            </a:extLst>
          </p:cNvPr>
          <p:cNvGraphicFramePr>
            <a:graphicFrameLocks noGrp="1"/>
          </p:cNvGraphicFramePr>
          <p:nvPr>
            <p:extLst>
              <p:ext uri="{D42A27DB-BD31-4B8C-83A1-F6EECF244321}">
                <p14:modId xmlns:p14="http://schemas.microsoft.com/office/powerpoint/2010/main" val="2349325627"/>
              </p:ext>
            </p:extLst>
          </p:nvPr>
        </p:nvGraphicFramePr>
        <p:xfrm>
          <a:off x="811211" y="5103177"/>
          <a:ext cx="10920123" cy="1584960"/>
        </p:xfrm>
        <a:graphic>
          <a:graphicData uri="http://schemas.openxmlformats.org/drawingml/2006/table">
            <a:tbl>
              <a:tblPr firstRow="1" bandRow="1">
                <a:tableStyleId>{5C22544A-7EE6-4342-B048-85BDC9FD1C3A}</a:tableStyleId>
              </a:tblPr>
              <a:tblGrid>
                <a:gridCol w="3008949">
                  <a:extLst>
                    <a:ext uri="{9D8B030D-6E8A-4147-A177-3AD203B41FA5}">
                      <a16:colId xmlns:a16="http://schemas.microsoft.com/office/drawing/2014/main" val="308894398"/>
                    </a:ext>
                  </a:extLst>
                </a:gridCol>
                <a:gridCol w="4500880">
                  <a:extLst>
                    <a:ext uri="{9D8B030D-6E8A-4147-A177-3AD203B41FA5}">
                      <a16:colId xmlns:a16="http://schemas.microsoft.com/office/drawing/2014/main" val="1220177812"/>
                    </a:ext>
                  </a:extLst>
                </a:gridCol>
                <a:gridCol w="3410294">
                  <a:extLst>
                    <a:ext uri="{9D8B030D-6E8A-4147-A177-3AD203B41FA5}">
                      <a16:colId xmlns:a16="http://schemas.microsoft.com/office/drawing/2014/main" val="2673320556"/>
                    </a:ext>
                  </a:extLst>
                </a:gridCol>
              </a:tblGrid>
              <a:tr h="127996">
                <a:tc>
                  <a:txBody>
                    <a:bodyPr/>
                    <a:lstStyle/>
                    <a:p>
                      <a:pPr algn="ctr"/>
                      <a:r>
                        <a:rPr lang="en-IN" sz="2000" b="1" dirty="0">
                          <a:solidFill>
                            <a:schemeClr val="tx1"/>
                          </a:solidFill>
                          <a:latin typeface="Times New Roman" panose="02020603050405020304" pitchFamily="18" charset="0"/>
                          <a:cs typeface="Times New Roman" panose="02020603050405020304" pitchFamily="18" charset="0"/>
                        </a:rPr>
                        <a:t>Project Guide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IN" sz="2000" b="1" dirty="0">
                          <a:solidFill>
                            <a:schemeClr val="tx1"/>
                          </a:solidFill>
                          <a:latin typeface="Times New Roman" panose="02020603050405020304" pitchFamily="18" charset="0"/>
                          <a:cs typeface="Times New Roman" panose="02020603050405020304" pitchFamily="18" charset="0"/>
                        </a:rPr>
                        <a:t>Internship Co-ordinators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IN" sz="2000" b="1" dirty="0">
                          <a:solidFill>
                            <a:schemeClr val="tx1"/>
                          </a:solidFill>
                          <a:latin typeface="Times New Roman" panose="02020603050405020304" pitchFamily="18" charset="0"/>
                          <a:cs typeface="Times New Roman" panose="02020603050405020304" pitchFamily="18" charset="0"/>
                        </a:rPr>
                        <a:t>Head of Department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3533842"/>
                  </a:ext>
                </a:extLst>
              </a:tr>
              <a:tr h="127996">
                <a:tc>
                  <a:txBody>
                    <a:bodyPr/>
                    <a:lstStyle/>
                    <a:p>
                      <a:pPr algn="ctr"/>
                      <a:r>
                        <a:rPr lang="en-IN" sz="2000" b="1" dirty="0" err="1">
                          <a:solidFill>
                            <a:schemeClr val="tx1"/>
                          </a:solidFill>
                          <a:latin typeface="Times New Roman" panose="02020603050405020304" pitchFamily="18" charset="0"/>
                          <a:cs typeface="Times New Roman" panose="02020603050405020304" pitchFamily="18" charset="0"/>
                        </a:rPr>
                        <a:t>Mrs.NavyaSri</a:t>
                      </a:r>
                      <a:r>
                        <a:rPr lang="en-IN" sz="2000" b="1" dirty="0">
                          <a:solidFill>
                            <a:schemeClr val="tx1"/>
                          </a:solidFill>
                          <a:latin typeface="Times New Roman" panose="02020603050405020304" pitchFamily="18" charset="0"/>
                          <a:cs typeface="Times New Roman" panose="02020603050405020304" pitchFamily="18" charset="0"/>
                        </a:rPr>
                        <a:t> N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IN" sz="2000" b="1" dirty="0" err="1">
                          <a:solidFill>
                            <a:schemeClr val="tx1"/>
                          </a:solidFill>
                          <a:latin typeface="Times New Roman" panose="02020603050405020304" pitchFamily="18" charset="0"/>
                          <a:cs typeface="Times New Roman" panose="02020603050405020304" pitchFamily="18" charset="0"/>
                        </a:rPr>
                        <a:t>Mrs.Swetha</a:t>
                      </a:r>
                      <a:r>
                        <a:rPr lang="en-IN" sz="2000" b="1" dirty="0">
                          <a:solidFill>
                            <a:schemeClr val="tx1"/>
                          </a:solidFill>
                          <a:latin typeface="Times New Roman" panose="02020603050405020304" pitchFamily="18" charset="0"/>
                          <a:cs typeface="Times New Roman" panose="02020603050405020304" pitchFamily="18" charset="0"/>
                        </a:rPr>
                        <a:t> T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IN" sz="2000" b="1" dirty="0">
                          <a:solidFill>
                            <a:schemeClr val="tx1"/>
                          </a:solidFill>
                          <a:latin typeface="Times New Roman" panose="02020603050405020304" pitchFamily="18" charset="0"/>
                          <a:cs typeface="Times New Roman" panose="02020603050405020304" pitchFamily="18" charset="0"/>
                        </a:rPr>
                        <a:t>Dr. </a:t>
                      </a:r>
                      <a:r>
                        <a:rPr lang="en-IN" sz="2000" b="1" dirty="0" err="1">
                          <a:solidFill>
                            <a:schemeClr val="tx1"/>
                          </a:solidFill>
                          <a:latin typeface="Times New Roman" panose="02020603050405020304" pitchFamily="18" charset="0"/>
                          <a:cs typeface="Times New Roman" panose="02020603050405020304" pitchFamily="18" charset="0"/>
                        </a:rPr>
                        <a:t>Manjunatha</a:t>
                      </a:r>
                      <a:r>
                        <a:rPr lang="en-IN" sz="2000" b="1" dirty="0">
                          <a:solidFill>
                            <a:schemeClr val="tx1"/>
                          </a:solidFill>
                          <a:latin typeface="Times New Roman" panose="02020603050405020304" pitchFamily="18" charset="0"/>
                          <a:cs typeface="Times New Roman" panose="02020603050405020304" pitchFamily="18" charset="0"/>
                        </a:rPr>
                        <a:t> Kumar B H</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7328686"/>
                  </a:ext>
                </a:extLst>
              </a:tr>
              <a:tr h="370840">
                <a:tc>
                  <a:txBody>
                    <a:bodyPr/>
                    <a:lstStyle/>
                    <a:p>
                      <a:pPr algn="ctr"/>
                      <a:r>
                        <a:rPr lang="en-IN" sz="2000" b="0" dirty="0">
                          <a:solidFill>
                            <a:schemeClr val="tx2"/>
                          </a:solidFill>
                          <a:latin typeface="Times New Roman" panose="02020603050405020304" pitchFamily="18" charset="0"/>
                          <a:cs typeface="Times New Roman" panose="02020603050405020304" pitchFamily="18" charset="0"/>
                        </a:rPr>
                        <a:t>Assistant Professor</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IN" sz="2000" dirty="0">
                          <a:solidFill>
                            <a:schemeClr val="tx2"/>
                          </a:solidFill>
                          <a:latin typeface="Times New Roman" panose="02020603050405020304" pitchFamily="18" charset="0"/>
                          <a:cs typeface="Times New Roman" panose="02020603050405020304" pitchFamily="18" charset="0"/>
                        </a:rPr>
                        <a:t>Assistant Professors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IN" sz="2000" dirty="0">
                          <a:solidFill>
                            <a:schemeClr val="tx2"/>
                          </a:solidFill>
                          <a:latin typeface="Times New Roman" panose="02020603050405020304" pitchFamily="18" charset="0"/>
                          <a:cs typeface="Times New Roman" panose="02020603050405020304" pitchFamily="18" charset="0"/>
                        </a:rPr>
                        <a:t>Dean-Academics and HoD</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11590203"/>
                  </a:ext>
                </a:extLst>
              </a:tr>
              <a:tr h="370840">
                <a:tc>
                  <a:txBody>
                    <a:bodyPr/>
                    <a:lstStyle/>
                    <a:p>
                      <a:pPr algn="ctr"/>
                      <a:r>
                        <a:rPr lang="en-IN" sz="2000" dirty="0">
                          <a:solidFill>
                            <a:schemeClr val="tx2"/>
                          </a:solidFill>
                          <a:latin typeface="Times New Roman" panose="02020603050405020304" pitchFamily="18" charset="0"/>
                          <a:cs typeface="Times New Roman" panose="02020603050405020304" pitchFamily="18" charset="0"/>
                        </a:rPr>
                        <a:t>CSE, SJCIT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IN" sz="2000" dirty="0">
                          <a:solidFill>
                            <a:schemeClr val="tx2"/>
                          </a:solidFill>
                          <a:latin typeface="Times New Roman" panose="02020603050405020304" pitchFamily="18" charset="0"/>
                          <a:cs typeface="Times New Roman" panose="02020603050405020304" pitchFamily="18" charset="0"/>
                        </a:rPr>
                        <a:t>CSE, SJCIT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IN" sz="2000" dirty="0">
                          <a:solidFill>
                            <a:schemeClr val="tx2"/>
                          </a:solidFill>
                          <a:latin typeface="Times New Roman" panose="02020603050405020304" pitchFamily="18" charset="0"/>
                          <a:cs typeface="Times New Roman" panose="02020603050405020304" pitchFamily="18" charset="0"/>
                        </a:rPr>
                        <a:t>CSE, SJCIT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415033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216569" y="0"/>
            <a:ext cx="10972800" cy="1143000"/>
          </a:xfrm>
        </p:spPr>
        <p:txBody>
          <a:bodyPr/>
          <a:lstStyle/>
          <a:p>
            <a:pPr eaLnBrk="1" hangingPunct="1"/>
            <a:r>
              <a:rPr lang="en-US" sz="3200" b="1" dirty="0">
                <a:latin typeface="Times New Roman" pitchFamily="18" charset="0"/>
                <a:cs typeface="Times New Roman" pitchFamily="18" charset="0"/>
              </a:rPr>
              <a:t>CONTENTS</a:t>
            </a:r>
          </a:p>
        </p:txBody>
      </p:sp>
      <p:sp>
        <p:nvSpPr>
          <p:cNvPr id="3075" name="Content Placeholder 2"/>
          <p:cNvSpPr>
            <a:spLocks noGrp="1"/>
          </p:cNvSpPr>
          <p:nvPr>
            <p:ph idx="1"/>
          </p:nvPr>
        </p:nvSpPr>
        <p:spPr>
          <a:xfrm>
            <a:off x="697830" y="745959"/>
            <a:ext cx="10532395" cy="5561079"/>
          </a:xfrm>
        </p:spPr>
        <p:txBody>
          <a:bodyPr/>
          <a:lstStyle/>
          <a:p>
            <a:pPr marL="0" indent="0" eaLnBrk="1" hangingPunct="1">
              <a:buFont typeface="Arial" charset="0"/>
              <a:buNone/>
            </a:pPr>
            <a:r>
              <a:rPr lang="en-US" sz="2000" dirty="0">
                <a:latin typeface="Times New Roman" pitchFamily="18" charset="0"/>
                <a:cs typeface="Times New Roman" pitchFamily="18" charset="0"/>
              </a:rPr>
              <a:t>I. ORGANIZATIONAL OVERVIEW</a:t>
            </a:r>
          </a:p>
          <a:p>
            <a:pPr marL="0" indent="0" eaLnBrk="1" hangingPunct="1">
              <a:buFont typeface="Arial" charset="0"/>
              <a:buNone/>
            </a:pPr>
            <a:r>
              <a:rPr lang="en-US" sz="2000" dirty="0">
                <a:latin typeface="Times New Roman" pitchFamily="18" charset="0"/>
                <a:cs typeface="Times New Roman" pitchFamily="18" charset="0"/>
              </a:rPr>
              <a:t>II. INTERNSHIP DETAILS</a:t>
            </a:r>
          </a:p>
          <a:p>
            <a:pPr marL="0" indent="0" eaLnBrk="1" hangingPunct="1">
              <a:buFont typeface="Arial" charset="0"/>
              <a:buNone/>
            </a:pPr>
            <a:r>
              <a:rPr lang="en-US" sz="2000" dirty="0">
                <a:latin typeface="Times New Roman" pitchFamily="18" charset="0"/>
                <a:cs typeface="Times New Roman" pitchFamily="18" charset="0"/>
              </a:rPr>
              <a:t>III. OBJECTIVE OF THE INTERNSHIP</a:t>
            </a:r>
          </a:p>
          <a:p>
            <a:pPr marL="0" indent="0" eaLnBrk="1" hangingPunct="1">
              <a:buFont typeface="Arial" charset="0"/>
              <a:buNone/>
            </a:pPr>
            <a:r>
              <a:rPr lang="en-US" sz="2000" dirty="0">
                <a:latin typeface="Times New Roman" pitchFamily="18" charset="0"/>
                <a:cs typeface="Times New Roman" pitchFamily="18" charset="0"/>
              </a:rPr>
              <a:t>IV. PROJECT TITLE AND DESCRIPTION</a:t>
            </a:r>
          </a:p>
          <a:p>
            <a:pPr marL="0" indent="0" eaLnBrk="1" hangingPunct="1">
              <a:buFont typeface="Arial" charset="0"/>
              <a:buNone/>
            </a:pPr>
            <a:r>
              <a:rPr lang="en-US" sz="2000" dirty="0">
                <a:latin typeface="Times New Roman" pitchFamily="18" charset="0"/>
                <a:cs typeface="Times New Roman" pitchFamily="18" charset="0"/>
              </a:rPr>
              <a:t>V. TOOLS AND TECHNOLOGIES USED</a:t>
            </a:r>
          </a:p>
          <a:p>
            <a:pPr marL="0" indent="0" eaLnBrk="1" hangingPunct="1">
              <a:buFont typeface="Arial" charset="0"/>
              <a:buNone/>
            </a:pPr>
            <a:r>
              <a:rPr lang="en-US" sz="2000" dirty="0">
                <a:latin typeface="Times New Roman" pitchFamily="18" charset="0"/>
                <a:cs typeface="Times New Roman" pitchFamily="18" charset="0"/>
              </a:rPr>
              <a:t>VI. OBJECTIVES AND METHODOLOGY</a:t>
            </a:r>
          </a:p>
          <a:p>
            <a:pPr marL="0" indent="0" eaLnBrk="1" hangingPunct="1">
              <a:buFont typeface="Arial" charset="0"/>
              <a:buNone/>
            </a:pPr>
            <a:r>
              <a:rPr lang="en-US" sz="2000" dirty="0">
                <a:latin typeface="Times New Roman" pitchFamily="18" charset="0"/>
                <a:cs typeface="Times New Roman" pitchFamily="18" charset="0"/>
              </a:rPr>
              <a:t>VII. SYSTEM DESIGN</a:t>
            </a:r>
          </a:p>
          <a:p>
            <a:pPr marL="0" indent="0" eaLnBrk="1" hangingPunct="1">
              <a:buFont typeface="Arial" charset="0"/>
              <a:buNone/>
            </a:pPr>
            <a:r>
              <a:rPr lang="en-US" sz="2000" dirty="0">
                <a:latin typeface="Times New Roman" pitchFamily="18" charset="0"/>
                <a:cs typeface="Times New Roman" pitchFamily="18" charset="0"/>
              </a:rPr>
              <a:t>VIII. IMPLEMENTATION</a:t>
            </a:r>
          </a:p>
          <a:p>
            <a:pPr marL="0" indent="0" eaLnBrk="1" hangingPunct="1">
              <a:buFont typeface="Arial" charset="0"/>
              <a:buNone/>
            </a:pPr>
            <a:r>
              <a:rPr lang="en-US" sz="2000" dirty="0">
                <a:latin typeface="Times New Roman" pitchFamily="18" charset="0"/>
                <a:cs typeface="Times New Roman" pitchFamily="18" charset="0"/>
              </a:rPr>
              <a:t>IX. RESULTS AND OUTCOMES</a:t>
            </a:r>
          </a:p>
          <a:p>
            <a:pPr marL="0" indent="0" eaLnBrk="1" hangingPunct="1">
              <a:buFont typeface="Arial" charset="0"/>
              <a:buNone/>
            </a:pPr>
            <a:r>
              <a:rPr lang="en-US" sz="2000" dirty="0">
                <a:latin typeface="Times New Roman" pitchFamily="18" charset="0"/>
                <a:cs typeface="Times New Roman" pitchFamily="18" charset="0"/>
              </a:rPr>
              <a:t>X. CHALLENGES FACED</a:t>
            </a:r>
          </a:p>
          <a:p>
            <a:pPr marL="0" indent="0" eaLnBrk="1" hangingPunct="1">
              <a:buFont typeface="Arial" charset="0"/>
              <a:buNone/>
            </a:pPr>
            <a:r>
              <a:rPr lang="en-US" sz="2000" dirty="0">
                <a:latin typeface="Times New Roman" pitchFamily="18" charset="0"/>
                <a:cs typeface="Times New Roman" pitchFamily="18" charset="0"/>
              </a:rPr>
              <a:t>XI. LEARNING OUTCOMES</a:t>
            </a:r>
          </a:p>
          <a:p>
            <a:pPr marL="0" indent="0" eaLnBrk="1" hangingPunct="1">
              <a:buFont typeface="Arial" charset="0"/>
              <a:buNone/>
            </a:pPr>
            <a:r>
              <a:rPr lang="en-US" sz="2000" dirty="0">
                <a:latin typeface="Times New Roman" pitchFamily="18" charset="0"/>
                <a:cs typeface="Times New Roman" pitchFamily="18" charset="0"/>
              </a:rPr>
              <a:t>XII. CONCLUSION</a:t>
            </a:r>
          </a:p>
          <a:p>
            <a:pPr marL="0" indent="0" eaLnBrk="1" hangingPunct="1">
              <a:buFont typeface="Arial" charset="0"/>
              <a:buNone/>
            </a:pPr>
            <a:r>
              <a:rPr lang="en-US" sz="2000" dirty="0">
                <a:latin typeface="Times New Roman" pitchFamily="18" charset="0"/>
                <a:cs typeface="Times New Roman" pitchFamily="18" charset="0"/>
              </a:rPr>
              <a:t>XIII. FUTURE WORK</a:t>
            </a:r>
          </a:p>
        </p:txBody>
      </p:sp>
      <p:sp>
        <p:nvSpPr>
          <p:cNvPr id="4" name="Footer Placeholder 3"/>
          <p:cNvSpPr>
            <a:spLocks noGrp="1"/>
          </p:cNvSpPr>
          <p:nvPr>
            <p:ph type="ftr" sz="quarter" idx="11"/>
          </p:nvPr>
        </p:nvSpPr>
        <p:spPr/>
        <p:txBody>
          <a:bodyPr/>
          <a:lstStyle/>
          <a:p>
            <a:pPr>
              <a:defRPr/>
            </a:pPr>
            <a:r>
              <a:rPr lang="en-US" b="1" dirty="0">
                <a:latin typeface="Times New Roman" pitchFamily="18" charset="0"/>
                <a:cs typeface="Times New Roman" pitchFamily="18" charset="0"/>
              </a:rPr>
              <a:t>Dept. of CSE, SJCIT</a:t>
            </a:r>
          </a:p>
        </p:txBody>
      </p:sp>
      <p:sp>
        <p:nvSpPr>
          <p:cNvPr id="5" name="Slide Number Placeholder 4"/>
          <p:cNvSpPr>
            <a:spLocks noGrp="1"/>
          </p:cNvSpPr>
          <p:nvPr>
            <p:ph type="sldNum" sz="quarter" idx="12"/>
          </p:nvPr>
        </p:nvSpPr>
        <p:spPr/>
        <p:txBody>
          <a:bodyPr/>
          <a:lstStyle/>
          <a:p>
            <a:pPr>
              <a:defRPr/>
            </a:pPr>
            <a:fld id="{AD5E59E0-17D6-407F-846F-AC252CE09AC1}" type="slidenum">
              <a:rPr lang="en-US" b="1">
                <a:latin typeface="Times New Roman" pitchFamily="18" charset="0"/>
                <a:cs typeface="Times New Roman" pitchFamily="18" charset="0"/>
              </a:rPr>
              <a:pPr>
                <a:defRPr/>
              </a:pPr>
              <a:t>2</a:t>
            </a:fld>
            <a:endParaRPr lang="en-US" b="1"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590232" y="83503"/>
            <a:ext cx="10133186" cy="1042987"/>
          </a:xfrm>
        </p:spPr>
        <p:txBody>
          <a:bodyPr/>
          <a:lstStyle/>
          <a:p>
            <a:pPr algn="just" eaLnBrk="1" hangingPunct="1"/>
            <a:r>
              <a:rPr lang="en-IN" sz="3600" b="1" dirty="0">
                <a:latin typeface="Times New Roman" panose="02020603050405020304" pitchFamily="18" charset="0"/>
                <a:cs typeface="Times New Roman" panose="02020603050405020304" pitchFamily="18" charset="0"/>
              </a:rPr>
              <a:t>Organizational Overview – </a:t>
            </a:r>
            <a:r>
              <a:rPr lang="en-IN" sz="3600" b="1" dirty="0" err="1">
                <a:latin typeface="Times New Roman" panose="02020603050405020304" pitchFamily="18" charset="0"/>
                <a:cs typeface="Times New Roman" panose="02020603050405020304" pitchFamily="18" charset="0"/>
              </a:rPr>
              <a:t>Rooman</a:t>
            </a:r>
            <a:r>
              <a:rPr lang="en-IN" sz="3600" b="1" dirty="0">
                <a:latin typeface="Times New Roman" panose="02020603050405020304" pitchFamily="18" charset="0"/>
                <a:cs typeface="Times New Roman" panose="02020603050405020304" pitchFamily="18" charset="0"/>
              </a:rPr>
              <a:t> Technologies</a:t>
            </a:r>
            <a:endParaRPr lang="en-US" sz="3600" b="1" dirty="0">
              <a:latin typeface="Times New Roman" panose="02020603050405020304" pitchFamily="18" charset="0"/>
              <a:cs typeface="Times New Roman" pitchFamily="18" charset="0"/>
            </a:endParaRPr>
          </a:p>
        </p:txBody>
      </p:sp>
      <p:sp>
        <p:nvSpPr>
          <p:cNvPr id="4099" name="Content Placeholder 2"/>
          <p:cNvSpPr>
            <a:spLocks noGrp="1"/>
          </p:cNvSpPr>
          <p:nvPr>
            <p:ph idx="1"/>
          </p:nvPr>
        </p:nvSpPr>
        <p:spPr>
          <a:xfrm>
            <a:off x="386080" y="1310640"/>
            <a:ext cx="11470640" cy="5019358"/>
          </a:xfrm>
        </p:spPr>
        <p:txBody>
          <a:bodyPr/>
          <a:lstStyle/>
          <a:p>
            <a:pPr marL="0" indent="0" algn="just">
              <a:lnSpc>
                <a:spcPct val="150000"/>
              </a:lnSpc>
              <a:spcBef>
                <a:spcPts val="0"/>
              </a:spcBef>
              <a:buNone/>
            </a:pPr>
            <a:r>
              <a:rPr lang="en-US" sz="2000" b="1" dirty="0" err="1">
                <a:latin typeface="Times New Roman" panose="02020603050405020304" pitchFamily="18" charset="0"/>
                <a:cs typeface="Times New Roman" panose="02020603050405020304" pitchFamily="18" charset="0"/>
              </a:rPr>
              <a:t>Rooman</a:t>
            </a:r>
            <a:r>
              <a:rPr lang="en-US" sz="2000" b="1" dirty="0">
                <a:latin typeface="Times New Roman" panose="02020603050405020304" pitchFamily="18" charset="0"/>
                <a:cs typeface="Times New Roman" panose="02020603050405020304" pitchFamily="18" charset="0"/>
              </a:rPr>
              <a:t> Technologies</a:t>
            </a:r>
            <a:r>
              <a:rPr lang="en-US" sz="2000" dirty="0">
                <a:latin typeface="Times New Roman" panose="02020603050405020304" pitchFamily="18" charset="0"/>
                <a:cs typeface="Times New Roman" panose="02020603050405020304" pitchFamily="18" charset="0"/>
              </a:rPr>
              <a:t> is a leading IT training and skill development company in India, established in 1999 and headquartered in Bangalore. The organization focuses on bridging the gap between academic learning and industry requirements by providing practical, industry-oriented training programs. It offers a wide range of services including IT training, internships, certification courses, and placement assistance, helping students build job-ready skills. </a:t>
            </a:r>
            <a:r>
              <a:rPr lang="en-US" sz="2000" dirty="0" err="1">
                <a:latin typeface="Times New Roman" panose="02020603050405020304" pitchFamily="18" charset="0"/>
                <a:cs typeface="Times New Roman" panose="02020603050405020304" pitchFamily="18" charset="0"/>
              </a:rPr>
              <a:t>Rooman</a:t>
            </a:r>
            <a:r>
              <a:rPr lang="en-US" sz="2000" dirty="0">
                <a:latin typeface="Times New Roman" panose="02020603050405020304" pitchFamily="18" charset="0"/>
                <a:cs typeface="Times New Roman" panose="02020603050405020304" pitchFamily="18" charset="0"/>
              </a:rPr>
              <a:t> Technologies specializes in high-demand domains such as Artificial Intelligence, Data Science, Cloud Computing, Cybersecurity, and Full Stack Development. With a strong presence across multiple cities and partnerships with global technology providers, the company has trained a large number of students and continues to empower them with the knowledge and skills needed to succeed in the IT industry.</a:t>
            </a:r>
            <a:endParaRPr lang="en-IN"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852E21DD-684C-436D-993C-56D19137C848}" type="slidenum">
              <a:rPr lang="en-US" smtClean="0"/>
              <a:pPr>
                <a:defRPr/>
              </a:pPr>
              <a:t>3</a:t>
            </a:fld>
            <a:endParaRPr lang="en-US" dirty="0"/>
          </a:p>
        </p:txBody>
      </p:sp>
      <p:sp>
        <p:nvSpPr>
          <p:cNvPr id="6" name="Footer Placeholder 3"/>
          <p:cNvSpPr>
            <a:spLocks noGrp="1"/>
          </p:cNvSpPr>
          <p:nvPr>
            <p:ph type="ftr" sz="quarter" idx="11"/>
          </p:nvPr>
        </p:nvSpPr>
        <p:spPr/>
        <p:txBody>
          <a:bodyPr/>
          <a:lstStyle/>
          <a:p>
            <a:pPr>
              <a:defRPr/>
            </a:pPr>
            <a:r>
              <a:rPr lang="en-US" b="1">
                <a:latin typeface="Times New Roman" pitchFamily="18" charset="0"/>
                <a:cs typeface="Times New Roman" pitchFamily="18" charset="0"/>
              </a:rPr>
              <a:t>Dept. of CSE, SJCIT</a:t>
            </a:r>
            <a:endParaRPr lang="en-US" b="1"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1747157E-8379-BBA0-27B6-7003682546BE}"/>
              </a:ext>
            </a:extLst>
          </p:cNvPr>
          <p:cNvSpPr>
            <a:spLocks noGrp="1"/>
          </p:cNvSpPr>
          <p:nvPr>
            <p:ph type="ctrTitle"/>
          </p:nvPr>
        </p:nvSpPr>
        <p:spPr>
          <a:xfrm>
            <a:off x="538480" y="319744"/>
            <a:ext cx="10363200" cy="553998"/>
          </a:xfrm>
        </p:spPr>
        <p:txBody>
          <a:bodyPr/>
          <a:lstStyle/>
          <a:p>
            <a:r>
              <a:rPr lang="en-IN" sz="3600" dirty="0"/>
              <a:t>Internship Details</a:t>
            </a:r>
          </a:p>
        </p:txBody>
      </p:sp>
      <p:sp>
        <p:nvSpPr>
          <p:cNvPr id="22" name="Subtitle 21">
            <a:extLst>
              <a:ext uri="{FF2B5EF4-FFF2-40B4-BE49-F238E27FC236}">
                <a16:creationId xmlns:a16="http://schemas.microsoft.com/office/drawing/2014/main" id="{008077C7-759F-909E-18B3-AF63CE008914}"/>
              </a:ext>
            </a:extLst>
          </p:cNvPr>
          <p:cNvSpPr>
            <a:spLocks noGrp="1"/>
          </p:cNvSpPr>
          <p:nvPr>
            <p:ph type="subTitle" idx="4"/>
          </p:nvPr>
        </p:nvSpPr>
        <p:spPr>
          <a:xfrm>
            <a:off x="173481" y="1072968"/>
            <a:ext cx="11369040" cy="5020261"/>
          </a:xfrm>
        </p:spPr>
        <p:txBody>
          <a:bodyPr/>
          <a:lstStyle/>
          <a:p>
            <a:r>
              <a:rPr lang="en-US" sz="2000" b="1" dirty="0">
                <a:latin typeface="Times New Roman" panose="02020603050405020304" pitchFamily="18" charset="0"/>
                <a:cs typeface="Times New Roman" panose="02020603050405020304" pitchFamily="18" charset="0"/>
              </a:rPr>
              <a:t>Internship Title:</a:t>
            </a:r>
            <a:r>
              <a:rPr lang="en-US" sz="2000" dirty="0">
                <a:latin typeface="Times New Roman" panose="02020603050405020304" pitchFamily="18" charset="0"/>
                <a:cs typeface="Times New Roman" panose="02020603050405020304" pitchFamily="18" charset="0"/>
              </a:rPr>
              <a:t> AI Agent Developer </a:t>
            </a:r>
          </a:p>
          <a:p>
            <a:r>
              <a:rPr lang="en-US" sz="2000" b="1" dirty="0">
                <a:latin typeface="Times New Roman" panose="02020603050405020304" pitchFamily="18" charset="0"/>
                <a:cs typeface="Times New Roman" panose="02020603050405020304" pitchFamily="18" charset="0"/>
              </a:rPr>
              <a:t>Domain:</a:t>
            </a:r>
            <a:r>
              <a:rPr lang="en-US" sz="2000" dirty="0">
                <a:latin typeface="Times New Roman" panose="02020603050405020304" pitchFamily="18" charset="0"/>
                <a:cs typeface="Times New Roman" panose="02020603050405020304" pitchFamily="18" charset="0"/>
              </a:rPr>
              <a:t> Artificial Intelligence &amp; Machine Learning </a:t>
            </a:r>
          </a:p>
          <a:p>
            <a:r>
              <a:rPr lang="en-US" sz="2000" b="1" dirty="0">
                <a:latin typeface="Times New Roman" panose="02020603050405020304" pitchFamily="18" charset="0"/>
                <a:cs typeface="Times New Roman" panose="02020603050405020304" pitchFamily="18" charset="0"/>
              </a:rPr>
              <a:t>Cohort:</a:t>
            </a:r>
            <a:r>
              <a:rPr lang="en-US" sz="2000" dirty="0">
                <a:latin typeface="Times New Roman" panose="02020603050405020304" pitchFamily="18" charset="0"/>
                <a:cs typeface="Times New Roman" panose="02020603050405020304" pitchFamily="18" charset="0"/>
              </a:rPr>
              <a:t> AI-ML Cohort V </a:t>
            </a:r>
          </a:p>
          <a:p>
            <a:r>
              <a:rPr lang="en-US" sz="2000" b="1" dirty="0">
                <a:latin typeface="Times New Roman" panose="02020603050405020304" pitchFamily="18" charset="0"/>
                <a:cs typeface="Times New Roman" panose="02020603050405020304" pitchFamily="18" charset="0"/>
              </a:rPr>
              <a:t>Organization: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Rooman</a:t>
            </a:r>
            <a:r>
              <a:rPr lang="en-US" sz="2000" dirty="0">
                <a:latin typeface="Times New Roman" panose="02020603050405020304" pitchFamily="18" charset="0"/>
                <a:cs typeface="Times New Roman" panose="02020603050405020304" pitchFamily="18" charset="0"/>
              </a:rPr>
              <a:t> Technologies </a:t>
            </a:r>
          </a:p>
          <a:p>
            <a:r>
              <a:rPr lang="en-US" sz="2000" b="1" dirty="0">
                <a:latin typeface="Times New Roman" panose="02020603050405020304" pitchFamily="18" charset="0"/>
                <a:cs typeface="Times New Roman" panose="02020603050405020304" pitchFamily="18" charset="0"/>
              </a:rPr>
              <a:t>Duration: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(Add your duration here)</a:t>
            </a:r>
            <a:r>
              <a:rPr lang="en-US" sz="2000" dirty="0">
                <a:latin typeface="Times New Roman" panose="02020603050405020304" pitchFamily="18" charset="0"/>
                <a:cs typeface="Times New Roman" panose="02020603050405020304" pitchFamily="18" charset="0"/>
              </a:rPr>
              <a:t> </a:t>
            </a:r>
          </a:p>
          <a:p>
            <a:endParaRPr lang="en-US" sz="2000" b="1"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Key Responsibilities: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Designing and developing intelligent AI agents </a:t>
            </a:r>
          </a:p>
          <a:p>
            <a:r>
              <a:rPr lang="en-US" sz="2000" dirty="0">
                <a:latin typeface="Times New Roman" panose="02020603050405020304" pitchFamily="18" charset="0"/>
                <a:cs typeface="Times New Roman" panose="02020603050405020304" pitchFamily="18" charset="0"/>
              </a:rPr>
              <a:t>Implementing machine learning models and logic </a:t>
            </a:r>
          </a:p>
          <a:p>
            <a:r>
              <a:rPr lang="en-US" sz="2000" dirty="0">
                <a:latin typeface="Times New Roman" panose="02020603050405020304" pitchFamily="18" charset="0"/>
                <a:cs typeface="Times New Roman" panose="02020603050405020304" pitchFamily="18" charset="0"/>
              </a:rPr>
              <a:t>Working with real-world datasets for automation tasks </a:t>
            </a:r>
          </a:p>
          <a:p>
            <a:r>
              <a:rPr lang="en-US" sz="2000" dirty="0">
                <a:latin typeface="Times New Roman" panose="02020603050405020304" pitchFamily="18" charset="0"/>
                <a:cs typeface="Times New Roman" panose="02020603050405020304" pitchFamily="18" charset="0"/>
              </a:rPr>
              <a:t>Collaborating on project development and testing</a:t>
            </a:r>
          </a:p>
          <a:p>
            <a:pPr lvl="1"/>
            <a:endParaRPr lang="en-IN" sz="1600"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ftr" sz="quarter" idx="5"/>
          </p:nvPr>
        </p:nvSpPr>
        <p:spPr>
          <a:xfrm>
            <a:off x="5512053" y="6465214"/>
            <a:ext cx="1169034" cy="177800"/>
          </a:xfrm>
        </p:spPr>
        <p:txBody>
          <a:bodyPr vert="horz" wrap="square" lIns="0" tIns="0" rIns="0" bIns="0" rtlCol="0">
            <a:spAutoFit/>
          </a:bodyPr>
          <a:lstStyle/>
          <a:p>
            <a:r>
              <a:rPr lang="en-IN" dirty="0"/>
              <a:t>Dept. of CSE, SJCIT</a:t>
            </a:r>
          </a:p>
        </p:txBody>
      </p:sp>
      <p:sp>
        <p:nvSpPr>
          <p:cNvPr id="4" name="object 4"/>
          <p:cNvSpPr txBox="1">
            <a:spLocks noGrp="1"/>
          </p:cNvSpPr>
          <p:nvPr>
            <p:ph type="sldNum" sz="quarter" idx="7"/>
          </p:nvPr>
        </p:nvSpPr>
        <p:spPr>
          <a:xfrm>
            <a:off x="11298046" y="6465214"/>
            <a:ext cx="244475" cy="177800"/>
          </a:xfrm>
        </p:spPr>
        <p:txBody>
          <a:bodyPr vert="horz" wrap="square" lIns="0" tIns="0" rIns="0" bIns="0" rtlCol="0">
            <a:spAutoFit/>
          </a:bodyPr>
          <a:lstStyle/>
          <a:p>
            <a:fld id="{81D60167-4931-47E6-BA6A-407CBD079E47}" type="slidenum">
              <a:rPr lang="en-IN" dirty="0"/>
              <a:pPr/>
              <a:t>4</a:t>
            </a:fld>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10C36-18C9-677F-8D01-276945D84722}"/>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71403879-8EF3-87BA-F59E-12944412E99A}"/>
              </a:ext>
            </a:extLst>
          </p:cNvPr>
          <p:cNvSpPr>
            <a:spLocks noGrp="1"/>
          </p:cNvSpPr>
          <p:nvPr>
            <p:ph type="title"/>
          </p:nvPr>
        </p:nvSpPr>
        <p:spPr>
          <a:xfrm>
            <a:off x="54007" y="0"/>
            <a:ext cx="10972800" cy="1143000"/>
          </a:xfrm>
        </p:spPr>
        <p:txBody>
          <a:bodyPr/>
          <a:lstStyle/>
          <a:p>
            <a:pPr eaLnBrk="1" hangingPunct="1"/>
            <a:r>
              <a:rPr lang="en-IN" sz="3600" b="1" dirty="0">
                <a:latin typeface="Times New Roman" panose="02020603050405020304" pitchFamily="18" charset="0"/>
                <a:cs typeface="Times New Roman" panose="02020603050405020304" pitchFamily="18" charset="0"/>
              </a:rPr>
              <a:t>Objective of the Internship</a:t>
            </a:r>
            <a:endParaRPr lang="en-US" sz="3600" b="1" dirty="0">
              <a:latin typeface="Times New Roman" panose="02020603050405020304" pitchFamily="18" charset="0"/>
              <a:cs typeface="Times New Roman" pitchFamily="18" charset="0"/>
            </a:endParaRPr>
          </a:p>
        </p:txBody>
      </p:sp>
      <p:sp>
        <p:nvSpPr>
          <p:cNvPr id="11267" name="Content Placeholder 2">
            <a:extLst>
              <a:ext uri="{FF2B5EF4-FFF2-40B4-BE49-F238E27FC236}">
                <a16:creationId xmlns:a16="http://schemas.microsoft.com/office/drawing/2014/main" id="{07594800-83D5-E5EA-83BF-ACB99D5709EA}"/>
              </a:ext>
            </a:extLst>
          </p:cNvPr>
          <p:cNvSpPr>
            <a:spLocks noGrp="1"/>
          </p:cNvSpPr>
          <p:nvPr>
            <p:ph idx="1"/>
          </p:nvPr>
        </p:nvSpPr>
        <p:spPr>
          <a:xfrm>
            <a:off x="150261" y="1040598"/>
            <a:ext cx="11879179" cy="5153192"/>
          </a:xfrm>
          <a:ln>
            <a:noFill/>
          </a:ln>
        </p:spPr>
        <p:txBody>
          <a:bodyPr/>
          <a:lstStyle/>
          <a:p>
            <a:pPr algn="just">
              <a:lnSpc>
                <a:spcPct val="150000"/>
              </a:lnSpc>
            </a:pPr>
            <a:r>
              <a:rPr lang="en-US" sz="2400" dirty="0">
                <a:latin typeface="Times New Roman" panose="02020603050405020304" pitchFamily="18" charset="0"/>
                <a:cs typeface="Times New Roman" panose="02020603050405020304" pitchFamily="18" charset="0"/>
              </a:rPr>
              <a:t>To gain practical experience in Artificial Intelligence and Machine Learning through real-world projects </a:t>
            </a:r>
          </a:p>
          <a:p>
            <a:pPr algn="just">
              <a:lnSpc>
                <a:spcPct val="150000"/>
              </a:lnSpc>
            </a:pPr>
            <a:r>
              <a:rPr lang="en-US" sz="2400" dirty="0">
                <a:latin typeface="Times New Roman" panose="02020603050405020304" pitchFamily="18" charset="0"/>
                <a:cs typeface="Times New Roman" panose="02020603050405020304" pitchFamily="18" charset="0"/>
              </a:rPr>
              <a:t>To develop and deploy AI-based solutions for problem-solving and automation </a:t>
            </a:r>
          </a:p>
          <a:p>
            <a:pPr algn="just">
              <a:lnSpc>
                <a:spcPct val="150000"/>
              </a:lnSpc>
            </a:pPr>
            <a:r>
              <a:rPr lang="en-US" sz="2400" dirty="0">
                <a:latin typeface="Times New Roman" panose="02020603050405020304" pitchFamily="18" charset="0"/>
                <a:cs typeface="Times New Roman" panose="02020603050405020304" pitchFamily="18" charset="0"/>
              </a:rPr>
              <a:t>To strengthen skills in programming, data handling, and model development </a:t>
            </a:r>
          </a:p>
          <a:p>
            <a:pPr algn="just">
              <a:lnSpc>
                <a:spcPct val="150000"/>
              </a:lnSpc>
            </a:pPr>
            <a:r>
              <a:rPr lang="en-US" sz="2400" dirty="0">
                <a:latin typeface="Times New Roman" panose="02020603050405020304" pitchFamily="18" charset="0"/>
                <a:cs typeface="Times New Roman" panose="02020603050405020304" pitchFamily="18" charset="0"/>
              </a:rPr>
              <a:t>To understand industry workflows, tools, and best practices </a:t>
            </a:r>
          </a:p>
          <a:p>
            <a:pPr algn="just">
              <a:lnSpc>
                <a:spcPct val="150000"/>
              </a:lnSpc>
            </a:pPr>
            <a:r>
              <a:rPr lang="en-US" sz="2400" dirty="0">
                <a:latin typeface="Times New Roman" panose="02020603050405020304" pitchFamily="18" charset="0"/>
                <a:cs typeface="Times New Roman" panose="02020603050405020304" pitchFamily="18" charset="0"/>
              </a:rPr>
              <a:t>To enhance analytical thinking, teamwork, and communication skills </a:t>
            </a:r>
          </a:p>
          <a:p>
            <a:pPr algn="just">
              <a:lnSpc>
                <a:spcPct val="150000"/>
              </a:lnSpc>
            </a:pPr>
            <a:r>
              <a:rPr lang="en-US" sz="2400" dirty="0">
                <a:latin typeface="Times New Roman" panose="02020603050405020304" pitchFamily="18" charset="0"/>
                <a:cs typeface="Times New Roman" panose="02020603050405020304" pitchFamily="18" charset="0"/>
              </a:rPr>
              <a:t>To become industry-ready with hands-on technical exposure </a:t>
            </a:r>
          </a:p>
          <a:p>
            <a:pPr marL="0" indent="0">
              <a:lnSpc>
                <a:spcPct val="150000"/>
              </a:lnSpc>
              <a:buNone/>
            </a:pPr>
            <a:endParaRPr lang="en-US" sz="1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59D37E8-CA7F-05B4-7078-F5458C844D21}"/>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id="{91F8E550-AF69-D258-C0AA-DF0E12371508}"/>
              </a:ext>
            </a:extLst>
          </p:cNvPr>
          <p:cNvSpPr>
            <a:spLocks noGrp="1"/>
          </p:cNvSpPr>
          <p:nvPr>
            <p:ph type="sldNum" sz="quarter" idx="12"/>
          </p:nvPr>
        </p:nvSpPr>
        <p:spPr/>
        <p:txBody>
          <a:bodyPr/>
          <a:lstStyle/>
          <a:p>
            <a:pPr>
              <a:defRPr/>
            </a:pPr>
            <a:fld id="{D285628A-1F22-47FD-9A8D-DF8F51CE94F4}" type="slidenum">
              <a:rPr lang="en-US"/>
              <a:pPr>
                <a:defRPr/>
              </a:pPr>
              <a:t>5</a:t>
            </a:fld>
            <a:endParaRPr lang="en-US"/>
          </a:p>
        </p:txBody>
      </p:sp>
    </p:spTree>
    <p:extLst>
      <p:ext uri="{BB962C8B-B14F-4D97-AF65-F5344CB8AC3E}">
        <p14:creationId xmlns:p14="http://schemas.microsoft.com/office/powerpoint/2010/main" val="1529831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2BCEC-596A-A567-66AB-F6A08C3029BB}"/>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0BB51F45-74A0-6F0D-158C-67C5E9400FFD}"/>
              </a:ext>
            </a:extLst>
          </p:cNvPr>
          <p:cNvSpPr>
            <a:spLocks noGrp="1"/>
          </p:cNvSpPr>
          <p:nvPr>
            <p:ph type="title"/>
          </p:nvPr>
        </p:nvSpPr>
        <p:spPr>
          <a:xfrm>
            <a:off x="54007" y="0"/>
            <a:ext cx="10972800" cy="1143000"/>
          </a:xfrm>
        </p:spPr>
        <p:txBody>
          <a:bodyPr/>
          <a:lstStyle/>
          <a:p>
            <a:pPr eaLnBrk="1" hangingPunct="1"/>
            <a:r>
              <a:rPr lang="en-IN" sz="3600" b="1" dirty="0">
                <a:latin typeface="Times New Roman" panose="02020603050405020304" pitchFamily="18" charset="0"/>
                <a:cs typeface="Times New Roman" panose="02020603050405020304" pitchFamily="18" charset="0"/>
              </a:rPr>
              <a:t>Project Title &amp; Project Description</a:t>
            </a:r>
            <a:endParaRPr lang="en-US" sz="3600" b="1" dirty="0">
              <a:latin typeface="Times New Roman" panose="02020603050405020304" pitchFamily="18" charset="0"/>
              <a:cs typeface="Times New Roman" pitchFamily="18" charset="0"/>
            </a:endParaRPr>
          </a:p>
        </p:txBody>
      </p:sp>
      <p:sp>
        <p:nvSpPr>
          <p:cNvPr id="11267" name="Content Placeholder 2">
            <a:extLst>
              <a:ext uri="{FF2B5EF4-FFF2-40B4-BE49-F238E27FC236}">
                <a16:creationId xmlns:a16="http://schemas.microsoft.com/office/drawing/2014/main" id="{DF0E86CF-4AF0-3D8D-C887-DD62E76CD154}"/>
              </a:ext>
            </a:extLst>
          </p:cNvPr>
          <p:cNvSpPr>
            <a:spLocks noGrp="1"/>
          </p:cNvSpPr>
          <p:nvPr>
            <p:ph idx="1"/>
          </p:nvPr>
        </p:nvSpPr>
        <p:spPr>
          <a:xfrm>
            <a:off x="182881" y="1010118"/>
            <a:ext cx="11765280" cy="5153192"/>
          </a:xfrm>
          <a:ln>
            <a:noFill/>
          </a:ln>
        </p:spPr>
        <p:txBody>
          <a:bodyPr/>
          <a:lstStyle/>
          <a:p>
            <a:pPr marL="0" indent="0">
              <a:lnSpc>
                <a:spcPct val="150000"/>
              </a:lnSpc>
              <a:buNone/>
            </a:pPr>
            <a:r>
              <a:rPr lang="en-US" sz="2000" b="1" dirty="0">
                <a:latin typeface="Times New Roman" panose="02020603050405020304" pitchFamily="18" charset="0"/>
                <a:cs typeface="Times New Roman" panose="02020603050405020304" pitchFamily="18" charset="0"/>
              </a:rPr>
              <a:t>Project Title - </a:t>
            </a:r>
            <a:r>
              <a:rPr lang="en-US" sz="2000" b="1" dirty="0" err="1">
                <a:latin typeface="Times New Roman" panose="02020603050405020304" pitchFamily="18" charset="0"/>
                <a:cs typeface="Times New Roman" panose="02020603050405020304" pitchFamily="18" charset="0"/>
              </a:rPr>
              <a:t>Sentix</a:t>
            </a:r>
            <a:r>
              <a:rPr lang="en-US" sz="2000" b="1" dirty="0">
                <a:latin typeface="Times New Roman" panose="02020603050405020304" pitchFamily="18" charset="0"/>
                <a:cs typeface="Times New Roman" panose="02020603050405020304" pitchFamily="18" charset="0"/>
              </a:rPr>
              <a:t> Pulse: Real-Time Sentiment Analyzer for Product Reviews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000" b="1" dirty="0"/>
              <a:t> </a:t>
            </a:r>
            <a:r>
              <a:rPr lang="en-US" sz="2000" b="1" dirty="0">
                <a:latin typeface="Times New Roman" panose="02020603050405020304" pitchFamily="18" charset="0"/>
                <a:cs typeface="Times New Roman" panose="02020603050405020304" pitchFamily="18" charset="0"/>
              </a:rPr>
              <a:t>Project Description</a:t>
            </a:r>
          </a:p>
          <a:p>
            <a:pPr algn="just">
              <a:lnSpc>
                <a:spcPct val="150000"/>
              </a:lnSpc>
            </a:pPr>
            <a:r>
              <a:rPr lang="en-US" sz="2000" dirty="0">
                <a:latin typeface="Times New Roman" panose="02020603050405020304" pitchFamily="18" charset="0"/>
                <a:cs typeface="Times New Roman" panose="02020603050405020304" pitchFamily="18" charset="0"/>
              </a:rPr>
              <a:t>This project focuses on developing an intelligent AI agent capable of automating routine tasks and assisting users in decision-making processes. The system leverages machine learning and natural language processing techniques to understand user inputs, process data, and generate meaningful outputs. It is designed to improve efficiency, reduce manual effort, and provide smart, real-time responses. The solution can be applied in areas such as customer support, personal assistance, and data-driven applications</a:t>
            </a:r>
            <a:r>
              <a:rPr lang="en-US" sz="2400" dirty="0">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40B18BE1-27D0-E256-2976-23FCF2EA0A9D}"/>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id="{5C8B3CFD-907B-07C5-7A2A-830E59D48A9A}"/>
              </a:ext>
            </a:extLst>
          </p:cNvPr>
          <p:cNvSpPr>
            <a:spLocks noGrp="1"/>
          </p:cNvSpPr>
          <p:nvPr>
            <p:ph type="sldNum" sz="quarter" idx="12"/>
          </p:nvPr>
        </p:nvSpPr>
        <p:spPr/>
        <p:txBody>
          <a:bodyPr/>
          <a:lstStyle/>
          <a:p>
            <a:pPr>
              <a:defRPr/>
            </a:pPr>
            <a:fld id="{D285628A-1F22-47FD-9A8D-DF8F51CE94F4}" type="slidenum">
              <a:rPr lang="en-US"/>
              <a:pPr>
                <a:defRPr/>
              </a:pPr>
              <a:t>6</a:t>
            </a:fld>
            <a:endParaRPr lang="en-US"/>
          </a:p>
        </p:txBody>
      </p:sp>
    </p:spTree>
    <p:extLst>
      <p:ext uri="{BB962C8B-B14F-4D97-AF65-F5344CB8AC3E}">
        <p14:creationId xmlns:p14="http://schemas.microsoft.com/office/powerpoint/2010/main" val="949614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05FA6-CF70-9F1C-EDDC-1BD0E85D9BE3}"/>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FCEE51CE-B557-60EC-BF59-D4F26FBF0A3F}"/>
              </a:ext>
            </a:extLst>
          </p:cNvPr>
          <p:cNvSpPr>
            <a:spLocks noGrp="1"/>
          </p:cNvSpPr>
          <p:nvPr>
            <p:ph type="title"/>
          </p:nvPr>
        </p:nvSpPr>
        <p:spPr>
          <a:xfrm>
            <a:off x="54007" y="20320"/>
            <a:ext cx="10972800" cy="1143000"/>
          </a:xfrm>
        </p:spPr>
        <p:txBody>
          <a:bodyPr/>
          <a:lstStyle/>
          <a:p>
            <a:pPr eaLnBrk="1" hangingPunct="1"/>
            <a:r>
              <a:rPr lang="en-IN" sz="3600" b="1" dirty="0">
                <a:latin typeface="Times New Roman" panose="02020603050405020304" pitchFamily="18" charset="0"/>
                <a:cs typeface="Times New Roman" panose="02020603050405020304" pitchFamily="18" charset="0"/>
              </a:rPr>
              <a:t>Tools &amp; Technologies Used</a:t>
            </a:r>
            <a:endParaRPr lang="en-US" sz="3600" b="1" dirty="0">
              <a:latin typeface="Times New Roman" panose="02020603050405020304" pitchFamily="18" charset="0"/>
              <a:cs typeface="Times New Roman" pitchFamily="18" charset="0"/>
            </a:endParaRPr>
          </a:p>
        </p:txBody>
      </p:sp>
      <p:sp>
        <p:nvSpPr>
          <p:cNvPr id="11267" name="Content Placeholder 2">
            <a:extLst>
              <a:ext uri="{FF2B5EF4-FFF2-40B4-BE49-F238E27FC236}">
                <a16:creationId xmlns:a16="http://schemas.microsoft.com/office/drawing/2014/main" id="{D2161C3E-0775-095B-F171-0FB3600B4E71}"/>
              </a:ext>
            </a:extLst>
          </p:cNvPr>
          <p:cNvSpPr>
            <a:spLocks noGrp="1"/>
          </p:cNvSpPr>
          <p:nvPr>
            <p:ph idx="1"/>
          </p:nvPr>
        </p:nvSpPr>
        <p:spPr>
          <a:xfrm>
            <a:off x="428980" y="1163320"/>
            <a:ext cx="11334039" cy="5193030"/>
          </a:xfrm>
          <a:ln>
            <a:noFill/>
          </a:ln>
        </p:spPr>
        <p:txBody>
          <a:bodyPr/>
          <a:lstStyle/>
          <a:p>
            <a:pPr marL="0" indent="0">
              <a:buNone/>
            </a:pPr>
            <a:r>
              <a:rPr lang="en-IN" sz="2000" b="1" dirty="0">
                <a:latin typeface="Times New Roman" panose="02020603050405020304" pitchFamily="18" charset="0"/>
                <a:cs typeface="Times New Roman" panose="02020603050405020304" pitchFamily="18" charset="0"/>
              </a:rPr>
              <a:t>Programming Languages: </a:t>
            </a:r>
            <a:r>
              <a:rPr lang="en-IN" sz="2000" dirty="0">
                <a:latin typeface="Times New Roman" panose="02020603050405020304" pitchFamily="18" charset="0"/>
                <a:cs typeface="Times New Roman" panose="02020603050405020304" pitchFamily="18" charset="0"/>
              </a:rPr>
              <a:t>Python </a:t>
            </a:r>
          </a:p>
          <a:p>
            <a:pPr marL="0" indent="0">
              <a:buNone/>
            </a:pPr>
            <a:r>
              <a:rPr lang="en-IN" sz="2000" b="1" dirty="0">
                <a:latin typeface="Times New Roman" panose="02020603050405020304" pitchFamily="18" charset="0"/>
                <a:cs typeface="Times New Roman" panose="02020603050405020304" pitchFamily="18" charset="0"/>
              </a:rPr>
              <a:t>Frameworks &amp; Libraries: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TensorFlow / Scikit-learn </a:t>
            </a:r>
          </a:p>
          <a:p>
            <a:r>
              <a:rPr lang="en-IN" sz="2000" dirty="0">
                <a:latin typeface="Times New Roman" panose="02020603050405020304" pitchFamily="18" charset="0"/>
                <a:cs typeface="Times New Roman" panose="02020603050405020304" pitchFamily="18" charset="0"/>
              </a:rPr>
              <a:t>Pandas, NumPy </a:t>
            </a:r>
          </a:p>
          <a:p>
            <a:pPr marL="0" indent="0">
              <a:buNone/>
            </a:pPr>
            <a:r>
              <a:rPr lang="en-IN" sz="2000" b="1" dirty="0">
                <a:latin typeface="Times New Roman" panose="02020603050405020304" pitchFamily="18" charset="0"/>
                <a:cs typeface="Times New Roman" panose="02020603050405020304" pitchFamily="18" charset="0"/>
              </a:rPr>
              <a:t>AI/ML &amp; NLP:</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Machine Learning Models </a:t>
            </a:r>
          </a:p>
          <a:p>
            <a:r>
              <a:rPr lang="en-IN" sz="2000" dirty="0">
                <a:latin typeface="Times New Roman" panose="02020603050405020304" pitchFamily="18" charset="0"/>
                <a:cs typeface="Times New Roman" panose="02020603050405020304" pitchFamily="18" charset="0"/>
              </a:rPr>
              <a:t>Natural Language Processing (NLP) </a:t>
            </a:r>
          </a:p>
          <a:p>
            <a:pPr marL="0" indent="0">
              <a:buNone/>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Tools &amp; Platforms: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VS Code</a:t>
            </a:r>
          </a:p>
          <a:p>
            <a:r>
              <a:rPr lang="en-IN" sz="2000" dirty="0">
                <a:latin typeface="Times New Roman" panose="02020603050405020304" pitchFamily="18" charset="0"/>
                <a:cs typeface="Times New Roman" panose="02020603050405020304" pitchFamily="18" charset="0"/>
              </a:rPr>
              <a:t>Git &amp; GitHub </a:t>
            </a:r>
          </a:p>
          <a:p>
            <a:pPr marL="0" indent="0">
              <a:buNone/>
            </a:pPr>
            <a:r>
              <a:rPr lang="en-IN" sz="2000" b="1" dirty="0">
                <a:latin typeface="Times New Roman" panose="02020603050405020304" pitchFamily="18" charset="0"/>
                <a:cs typeface="Times New Roman" panose="02020603050405020304" pitchFamily="18" charset="0"/>
              </a:rPr>
              <a:t>Deployment &amp; Services: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REST APIs </a:t>
            </a:r>
          </a:p>
          <a:p>
            <a:r>
              <a:rPr lang="en-IN" sz="2000" dirty="0">
                <a:latin typeface="Times New Roman" panose="02020603050405020304" pitchFamily="18" charset="0"/>
                <a:cs typeface="Times New Roman" panose="02020603050405020304" pitchFamily="18" charset="0"/>
              </a:rPr>
              <a:t>Cloud Platforms (AWS / Render – if used</a:t>
            </a:r>
          </a:p>
        </p:txBody>
      </p:sp>
      <p:sp>
        <p:nvSpPr>
          <p:cNvPr id="4" name="Footer Placeholder 3">
            <a:extLst>
              <a:ext uri="{FF2B5EF4-FFF2-40B4-BE49-F238E27FC236}">
                <a16:creationId xmlns:a16="http://schemas.microsoft.com/office/drawing/2014/main" id="{9F828F28-A22C-DADF-2AD0-2C19E03918AF}"/>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id="{E1C903A0-3F8C-DB78-1D78-35FA125CFE3E}"/>
              </a:ext>
            </a:extLst>
          </p:cNvPr>
          <p:cNvSpPr>
            <a:spLocks noGrp="1"/>
          </p:cNvSpPr>
          <p:nvPr>
            <p:ph type="sldNum" sz="quarter" idx="12"/>
          </p:nvPr>
        </p:nvSpPr>
        <p:spPr/>
        <p:txBody>
          <a:bodyPr/>
          <a:lstStyle/>
          <a:p>
            <a:pPr>
              <a:defRPr/>
            </a:pPr>
            <a:fld id="{D285628A-1F22-47FD-9A8D-DF8F51CE94F4}" type="slidenum">
              <a:rPr lang="en-US"/>
              <a:pPr>
                <a:defRPr/>
              </a:pPr>
              <a:t>7</a:t>
            </a:fld>
            <a:endParaRPr lang="en-US"/>
          </a:p>
        </p:txBody>
      </p:sp>
    </p:spTree>
    <p:extLst>
      <p:ext uri="{BB962C8B-B14F-4D97-AF65-F5344CB8AC3E}">
        <p14:creationId xmlns:p14="http://schemas.microsoft.com/office/powerpoint/2010/main" val="690376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B50D0-720F-4037-5746-9F79DDD14815}"/>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A8C72234-C533-0F65-DF64-B02EDA7D63BA}"/>
              </a:ext>
            </a:extLst>
          </p:cNvPr>
          <p:cNvSpPr>
            <a:spLocks noGrp="1"/>
          </p:cNvSpPr>
          <p:nvPr>
            <p:ph type="title"/>
          </p:nvPr>
        </p:nvSpPr>
        <p:spPr>
          <a:xfrm>
            <a:off x="7707" y="-1"/>
            <a:ext cx="10972800" cy="1038825"/>
          </a:xfrm>
        </p:spPr>
        <p:txBody>
          <a:bodyPr/>
          <a:lstStyle/>
          <a:p>
            <a:pPr eaLnBrk="1" hangingPunct="1"/>
            <a:r>
              <a:rPr lang="en-US" sz="3600" b="1" dirty="0">
                <a:latin typeface="Times New Roman" pitchFamily="18" charset="0"/>
                <a:cs typeface="Times New Roman" pitchFamily="18" charset="0"/>
              </a:rPr>
              <a:t>Objectives &amp; Methodology</a:t>
            </a:r>
          </a:p>
        </p:txBody>
      </p:sp>
      <p:sp>
        <p:nvSpPr>
          <p:cNvPr id="11267" name="Content Placeholder 2">
            <a:extLst>
              <a:ext uri="{FF2B5EF4-FFF2-40B4-BE49-F238E27FC236}">
                <a16:creationId xmlns:a16="http://schemas.microsoft.com/office/drawing/2014/main" id="{91F4D419-DBE9-B9CD-0847-67B23BC9C578}"/>
              </a:ext>
            </a:extLst>
          </p:cNvPr>
          <p:cNvSpPr>
            <a:spLocks noGrp="1"/>
          </p:cNvSpPr>
          <p:nvPr>
            <p:ph idx="1"/>
          </p:nvPr>
        </p:nvSpPr>
        <p:spPr>
          <a:xfrm>
            <a:off x="575285" y="937551"/>
            <a:ext cx="11365931" cy="5499823"/>
          </a:xfrm>
          <a:ln>
            <a:noFill/>
          </a:ln>
        </p:spPr>
        <p:txBody>
          <a:bodyPr/>
          <a:lstStyle/>
          <a:p>
            <a:pPr marL="0" indent="0">
              <a:buNone/>
            </a:pPr>
            <a:r>
              <a:rPr lang="en-US" sz="1800" b="1" dirty="0">
                <a:latin typeface="Times New Roman" panose="02020603050405020304" pitchFamily="18" charset="0"/>
                <a:cs typeface="Times New Roman" panose="02020603050405020304" pitchFamily="18" charset="0"/>
              </a:rPr>
              <a:t>Project Objectives</a:t>
            </a:r>
          </a:p>
          <a:p>
            <a:r>
              <a:rPr lang="en-US" sz="1800" dirty="0">
                <a:latin typeface="Times New Roman" panose="02020603050405020304" pitchFamily="18" charset="0"/>
                <a:cs typeface="Times New Roman" panose="02020603050405020304" pitchFamily="18" charset="0"/>
              </a:rPr>
              <a:t>Develop an AI-powered intelligent agent for task automation </a:t>
            </a:r>
          </a:p>
          <a:p>
            <a:r>
              <a:rPr lang="en-US" sz="1800" dirty="0">
                <a:latin typeface="Times New Roman" panose="02020603050405020304" pitchFamily="18" charset="0"/>
                <a:cs typeface="Times New Roman" panose="02020603050405020304" pitchFamily="18" charset="0"/>
              </a:rPr>
              <a:t>Implement machine learning &amp; NLP techniques for smart responses </a:t>
            </a:r>
          </a:p>
          <a:p>
            <a:r>
              <a:rPr lang="en-US" sz="1800" dirty="0">
                <a:latin typeface="Times New Roman" panose="02020603050405020304" pitchFamily="18" charset="0"/>
                <a:cs typeface="Times New Roman" panose="02020603050405020304" pitchFamily="18" charset="0"/>
              </a:rPr>
              <a:t>Reduce manual effort and improve efficiency </a:t>
            </a:r>
          </a:p>
          <a:p>
            <a:r>
              <a:rPr lang="en-US" sz="1800" dirty="0">
                <a:latin typeface="Times New Roman" panose="02020603050405020304" pitchFamily="18" charset="0"/>
                <a:cs typeface="Times New Roman" panose="02020603050405020304" pitchFamily="18" charset="0"/>
              </a:rPr>
              <a:t>Provide accurate and real-time decision support </a:t>
            </a:r>
          </a:p>
          <a:p>
            <a:r>
              <a:rPr lang="en-US" sz="1800" dirty="0">
                <a:latin typeface="Times New Roman" panose="02020603050405020304" pitchFamily="18" charset="0"/>
                <a:cs typeface="Times New Roman" panose="02020603050405020304" pitchFamily="18" charset="0"/>
              </a:rPr>
              <a:t>Build a scalable and user-friendly system </a:t>
            </a:r>
          </a:p>
          <a:p>
            <a:pPr marL="0" indent="0">
              <a:buNone/>
            </a:pPr>
            <a:br>
              <a:rPr lang="en-US" sz="1800" dirty="0"/>
            </a:br>
            <a:endParaRPr lang="en-US" sz="1800" dirty="0"/>
          </a:p>
          <a:p>
            <a:pPr marL="0" indent="0">
              <a:buNone/>
            </a:pPr>
            <a:r>
              <a:rPr lang="en-US" sz="1800" b="1" dirty="0"/>
              <a:t> </a:t>
            </a:r>
            <a:r>
              <a:rPr lang="en-US" sz="1800" b="1" dirty="0">
                <a:latin typeface="Times New Roman" panose="02020603050405020304" pitchFamily="18" charset="0"/>
                <a:cs typeface="Times New Roman" panose="02020603050405020304" pitchFamily="18" charset="0"/>
              </a:rPr>
              <a:t>Methodology</a:t>
            </a:r>
          </a:p>
          <a:p>
            <a:r>
              <a:rPr lang="en-US" sz="1800" b="1" dirty="0">
                <a:latin typeface="Times New Roman" panose="02020603050405020304" pitchFamily="18" charset="0"/>
                <a:cs typeface="Times New Roman" panose="02020603050405020304" pitchFamily="18" charset="0"/>
              </a:rPr>
              <a:t>Requirement Analysis:</a:t>
            </a:r>
            <a:r>
              <a:rPr lang="en-US" sz="1800" dirty="0">
                <a:latin typeface="Times New Roman" panose="02020603050405020304" pitchFamily="18" charset="0"/>
                <a:cs typeface="Times New Roman" panose="02020603050405020304" pitchFamily="18" charset="0"/>
              </a:rPr>
              <a:t> Identify problem and user needs </a:t>
            </a:r>
          </a:p>
          <a:p>
            <a:r>
              <a:rPr lang="en-US" sz="1800" b="1" dirty="0">
                <a:latin typeface="Times New Roman" panose="02020603050405020304" pitchFamily="18" charset="0"/>
                <a:cs typeface="Times New Roman" panose="02020603050405020304" pitchFamily="18" charset="0"/>
              </a:rPr>
              <a:t>Data Collection &amp; Preprocessing:</a:t>
            </a:r>
            <a:r>
              <a:rPr lang="en-US" sz="1800" dirty="0">
                <a:latin typeface="Times New Roman" panose="02020603050405020304" pitchFamily="18" charset="0"/>
                <a:cs typeface="Times New Roman" panose="02020603050405020304" pitchFamily="18" charset="0"/>
              </a:rPr>
              <a:t> Gather and clean data </a:t>
            </a:r>
          </a:p>
          <a:p>
            <a:r>
              <a:rPr lang="en-US" sz="1800" b="1" dirty="0">
                <a:latin typeface="Times New Roman" panose="02020603050405020304" pitchFamily="18" charset="0"/>
                <a:cs typeface="Times New Roman" panose="02020603050405020304" pitchFamily="18" charset="0"/>
              </a:rPr>
              <a:t>Model Development:</a:t>
            </a:r>
            <a:r>
              <a:rPr lang="en-US" sz="1800" dirty="0">
                <a:latin typeface="Times New Roman" panose="02020603050405020304" pitchFamily="18" charset="0"/>
                <a:cs typeface="Times New Roman" panose="02020603050405020304" pitchFamily="18" charset="0"/>
              </a:rPr>
              <a:t> Apply ML/NLP algorithms </a:t>
            </a:r>
          </a:p>
          <a:p>
            <a:r>
              <a:rPr lang="en-US" sz="1800" b="1" dirty="0">
                <a:latin typeface="Times New Roman" panose="02020603050405020304" pitchFamily="18" charset="0"/>
                <a:cs typeface="Times New Roman" panose="02020603050405020304" pitchFamily="18" charset="0"/>
              </a:rPr>
              <a:t>System Design:</a:t>
            </a:r>
            <a:r>
              <a:rPr lang="en-US" sz="1800" dirty="0">
                <a:latin typeface="Times New Roman" panose="02020603050405020304" pitchFamily="18" charset="0"/>
                <a:cs typeface="Times New Roman" panose="02020603050405020304" pitchFamily="18" charset="0"/>
              </a:rPr>
              <a:t> Define architecture (Frontend, Backend, Database) </a:t>
            </a:r>
          </a:p>
          <a:p>
            <a:r>
              <a:rPr lang="en-US" sz="1800" b="1" dirty="0">
                <a:latin typeface="Times New Roman" panose="02020603050405020304" pitchFamily="18" charset="0"/>
                <a:cs typeface="Times New Roman" panose="02020603050405020304" pitchFamily="18" charset="0"/>
              </a:rPr>
              <a:t>Implementation:</a:t>
            </a:r>
            <a:r>
              <a:rPr lang="en-US" sz="1800" dirty="0">
                <a:latin typeface="Times New Roman" panose="02020603050405020304" pitchFamily="18" charset="0"/>
                <a:cs typeface="Times New Roman" panose="02020603050405020304" pitchFamily="18" charset="0"/>
              </a:rPr>
              <a:t> Develop and integrate modules </a:t>
            </a:r>
          </a:p>
          <a:p>
            <a:r>
              <a:rPr lang="en-US" sz="1800" b="1" dirty="0">
                <a:latin typeface="Times New Roman" panose="02020603050405020304" pitchFamily="18" charset="0"/>
                <a:cs typeface="Times New Roman" panose="02020603050405020304" pitchFamily="18" charset="0"/>
              </a:rPr>
              <a:t>Testing &amp; Evaluation:</a:t>
            </a:r>
            <a:r>
              <a:rPr lang="en-US" sz="1800" dirty="0">
                <a:latin typeface="Times New Roman" panose="02020603050405020304" pitchFamily="18" charset="0"/>
                <a:cs typeface="Times New Roman" panose="02020603050405020304" pitchFamily="18" charset="0"/>
              </a:rPr>
              <a:t> Validate performance and accuracy </a:t>
            </a:r>
          </a:p>
          <a:p>
            <a:r>
              <a:rPr lang="en-US" sz="1800" b="1" dirty="0">
                <a:latin typeface="Times New Roman" panose="02020603050405020304" pitchFamily="18" charset="0"/>
                <a:cs typeface="Times New Roman" panose="02020603050405020304" pitchFamily="18" charset="0"/>
              </a:rPr>
              <a:t>Deployment:</a:t>
            </a:r>
            <a:r>
              <a:rPr lang="en-US" sz="1800" dirty="0">
                <a:latin typeface="Times New Roman" panose="02020603050405020304" pitchFamily="18" charset="0"/>
                <a:cs typeface="Times New Roman" panose="02020603050405020304" pitchFamily="18" charset="0"/>
              </a:rPr>
              <a:t> Make the system accessible to users</a:t>
            </a:r>
          </a:p>
        </p:txBody>
      </p:sp>
      <p:sp>
        <p:nvSpPr>
          <p:cNvPr id="4" name="Footer Placeholder 3">
            <a:extLst>
              <a:ext uri="{FF2B5EF4-FFF2-40B4-BE49-F238E27FC236}">
                <a16:creationId xmlns:a16="http://schemas.microsoft.com/office/drawing/2014/main" id="{22BA6988-B4F4-CBC3-DB53-3C18A1BBEAE0}"/>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id="{88C5B0B0-E31C-18D7-D043-313710560470}"/>
              </a:ext>
            </a:extLst>
          </p:cNvPr>
          <p:cNvSpPr>
            <a:spLocks noGrp="1"/>
          </p:cNvSpPr>
          <p:nvPr>
            <p:ph type="sldNum" sz="quarter" idx="12"/>
          </p:nvPr>
        </p:nvSpPr>
        <p:spPr/>
        <p:txBody>
          <a:bodyPr/>
          <a:lstStyle/>
          <a:p>
            <a:pPr>
              <a:defRPr/>
            </a:pPr>
            <a:fld id="{D285628A-1F22-47FD-9A8D-DF8F51CE94F4}" type="slidenum">
              <a:rPr lang="en-US"/>
              <a:pPr>
                <a:defRPr/>
              </a:pPr>
              <a:t>8</a:t>
            </a:fld>
            <a:endParaRPr lang="en-US"/>
          </a:p>
        </p:txBody>
      </p:sp>
    </p:spTree>
    <p:extLst>
      <p:ext uri="{BB962C8B-B14F-4D97-AF65-F5344CB8AC3E}">
        <p14:creationId xmlns:p14="http://schemas.microsoft.com/office/powerpoint/2010/main" val="2866110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7E9DD-572D-0838-2919-80E188F8A70D}"/>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47864BBC-E695-2E5C-5806-7145C11EA535}"/>
              </a:ext>
            </a:extLst>
          </p:cNvPr>
          <p:cNvSpPr>
            <a:spLocks noGrp="1"/>
          </p:cNvSpPr>
          <p:nvPr>
            <p:ph type="title"/>
          </p:nvPr>
        </p:nvSpPr>
        <p:spPr>
          <a:xfrm>
            <a:off x="7707" y="-1"/>
            <a:ext cx="10972800" cy="1038825"/>
          </a:xfrm>
        </p:spPr>
        <p:txBody>
          <a:bodyPr/>
          <a:lstStyle/>
          <a:p>
            <a:pPr eaLnBrk="1" hangingPunct="1"/>
            <a:r>
              <a:rPr lang="en-IN" sz="3600" b="1" dirty="0">
                <a:latin typeface="Times New Roman" panose="02020603050405020304" pitchFamily="18" charset="0"/>
                <a:cs typeface="Times New Roman" panose="02020603050405020304" pitchFamily="18" charset="0"/>
              </a:rPr>
              <a:t>System Design</a:t>
            </a:r>
            <a:endParaRPr lang="en-US" sz="3600" b="1" dirty="0">
              <a:latin typeface="Times New Roman" panose="02020603050405020304" pitchFamily="18" charset="0"/>
              <a:cs typeface="Times New Roman" pitchFamily="18" charset="0"/>
            </a:endParaRPr>
          </a:p>
        </p:txBody>
      </p:sp>
      <p:sp>
        <p:nvSpPr>
          <p:cNvPr id="11267" name="Content Placeholder 2">
            <a:extLst>
              <a:ext uri="{FF2B5EF4-FFF2-40B4-BE49-F238E27FC236}">
                <a16:creationId xmlns:a16="http://schemas.microsoft.com/office/drawing/2014/main" id="{1C1E4A87-3D6B-C706-6E04-7A8063C0521A}"/>
              </a:ext>
            </a:extLst>
          </p:cNvPr>
          <p:cNvSpPr>
            <a:spLocks noGrp="1"/>
          </p:cNvSpPr>
          <p:nvPr>
            <p:ph idx="1"/>
          </p:nvPr>
        </p:nvSpPr>
        <p:spPr>
          <a:xfrm>
            <a:off x="575288" y="1085120"/>
            <a:ext cx="11196169" cy="5525876"/>
          </a:xfrm>
          <a:ln>
            <a:noFill/>
          </a:ln>
        </p:spPr>
        <p:txBody>
          <a:bodyPr/>
          <a:lstStyle/>
          <a:p>
            <a:pPr marL="0" indent="0">
              <a:lnSpc>
                <a:spcPct val="130000"/>
              </a:lnSpc>
              <a:buNone/>
            </a:pPr>
            <a:r>
              <a:rPr lang="en-US" sz="2000" dirty="0">
                <a:latin typeface="Times New Roman" panose="02020603050405020304" pitchFamily="18" charset="0"/>
                <a:cs typeface="Times New Roman" panose="02020603050405020304" pitchFamily="18" charset="0"/>
              </a:rPr>
              <a:t>The system is designed as a modular and scalable application that integrates user interaction, intelligent processing, and data management. It follows a structured approach to ensure flexibility, efficiency, and easy maintenance.</a:t>
            </a:r>
            <a:endParaRPr lang="en-IN" sz="2000" dirty="0">
              <a:latin typeface="Times New Roman" panose="02020603050405020304" pitchFamily="18" charset="0"/>
              <a:cs typeface="Times New Roman" panose="02020603050405020304" pitchFamily="18" charset="0"/>
            </a:endParaRPr>
          </a:p>
          <a:p>
            <a:pPr marL="0" indent="0">
              <a:lnSpc>
                <a:spcPct val="130000"/>
              </a:lnSpc>
              <a:buNone/>
            </a:pPr>
            <a:endParaRPr lang="en-IN" sz="2000" dirty="0">
              <a:latin typeface="Times New Roman" panose="02020603050405020304" pitchFamily="18" charset="0"/>
              <a:cs typeface="Times New Roman" panose="02020603050405020304" pitchFamily="18" charset="0"/>
            </a:endParaRPr>
          </a:p>
          <a:p>
            <a:pPr marL="0" indent="0">
              <a:lnSpc>
                <a:spcPct val="130000"/>
              </a:lnSpc>
              <a:buNone/>
            </a:pPr>
            <a:r>
              <a:rPr lang="en-US" sz="2000" b="1" dirty="0">
                <a:latin typeface="Times New Roman" panose="02020603050405020304" pitchFamily="18" charset="0"/>
                <a:cs typeface="Times New Roman" panose="02020603050405020304" pitchFamily="18" charset="0"/>
              </a:rPr>
              <a:t>Architecture Flow:</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User sends input through the frontend interface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Request is sent to the backend server via API</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Backend processes the request and forwards it to the AI/ML module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AI model analyzes the input and generates results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Processed output is sent back to the backend</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Backend returns the final response to the user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Data is stored and retrieved from the database when required</a:t>
            </a:r>
            <a:endParaRPr lang="en-IN"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03087FCA-59BA-C4B8-2A0E-9456FA871528}"/>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id="{61600CDD-9EEF-1CF5-6117-A77B3B4399A3}"/>
              </a:ext>
            </a:extLst>
          </p:cNvPr>
          <p:cNvSpPr>
            <a:spLocks noGrp="1"/>
          </p:cNvSpPr>
          <p:nvPr>
            <p:ph type="sldNum" sz="quarter" idx="12"/>
          </p:nvPr>
        </p:nvSpPr>
        <p:spPr/>
        <p:txBody>
          <a:bodyPr/>
          <a:lstStyle/>
          <a:p>
            <a:pPr>
              <a:defRPr/>
            </a:pPr>
            <a:fld id="{D285628A-1F22-47FD-9A8D-DF8F51CE94F4}" type="slidenum">
              <a:rPr lang="en-US"/>
              <a:pPr>
                <a:defRPr/>
              </a:pPr>
              <a:t>9</a:t>
            </a:fld>
            <a:endParaRPr lang="en-US"/>
          </a:p>
        </p:txBody>
      </p:sp>
    </p:spTree>
    <p:extLst>
      <p:ext uri="{BB962C8B-B14F-4D97-AF65-F5344CB8AC3E}">
        <p14:creationId xmlns:p14="http://schemas.microsoft.com/office/powerpoint/2010/main" val="4159738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FD6F2-D66E-FB94-3378-671CA2567393}"/>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405AD285-D69B-3B3E-44A3-EFDF19A9BA3F}"/>
              </a:ext>
            </a:extLst>
          </p:cNvPr>
          <p:cNvSpPr>
            <a:spLocks noGrp="1"/>
          </p:cNvSpPr>
          <p:nvPr>
            <p:ph type="title"/>
          </p:nvPr>
        </p:nvSpPr>
        <p:spPr>
          <a:xfrm>
            <a:off x="54007" y="0"/>
            <a:ext cx="10972800" cy="1143000"/>
          </a:xfrm>
        </p:spPr>
        <p:txBody>
          <a:bodyPr/>
          <a:lstStyle/>
          <a:p>
            <a:pPr eaLnBrk="1" hangingPunct="1"/>
            <a:r>
              <a:rPr lang="en-US" sz="3600" b="1" dirty="0">
                <a:latin typeface="Times New Roman" pitchFamily="18" charset="0"/>
                <a:cs typeface="Times New Roman" pitchFamily="18" charset="0"/>
              </a:rPr>
              <a:t>System Design</a:t>
            </a:r>
          </a:p>
        </p:txBody>
      </p:sp>
      <p:pic>
        <p:nvPicPr>
          <p:cNvPr id="6" name="Content Placeholder 5">
            <a:extLst>
              <a:ext uri="{FF2B5EF4-FFF2-40B4-BE49-F238E27FC236}">
                <a16:creationId xmlns:a16="http://schemas.microsoft.com/office/drawing/2014/main" id="{D9D1AFA4-DB0A-9BE5-6A3D-CCE8AD858D0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047404" y="1481673"/>
            <a:ext cx="9979403" cy="4702996"/>
          </a:xfrm>
          <a:prstGeom prst="rect">
            <a:avLst/>
          </a:prstGeom>
          <a:noFill/>
          <a:ln w="9525">
            <a:noFill/>
            <a:miter lim="800000"/>
            <a:headEnd/>
            <a:tailEnd/>
          </a:ln>
        </p:spPr>
      </p:pic>
      <p:sp>
        <p:nvSpPr>
          <p:cNvPr id="4" name="Footer Placeholder 3">
            <a:extLst>
              <a:ext uri="{FF2B5EF4-FFF2-40B4-BE49-F238E27FC236}">
                <a16:creationId xmlns:a16="http://schemas.microsoft.com/office/drawing/2014/main" id="{AB212CE1-615C-95BF-721B-C4C572B76928}"/>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id="{BF69B97C-61AC-8E32-6611-C337B1786E51}"/>
              </a:ext>
            </a:extLst>
          </p:cNvPr>
          <p:cNvSpPr>
            <a:spLocks noGrp="1"/>
          </p:cNvSpPr>
          <p:nvPr>
            <p:ph type="sldNum" sz="quarter" idx="12"/>
          </p:nvPr>
        </p:nvSpPr>
        <p:spPr/>
        <p:txBody>
          <a:bodyPr/>
          <a:lstStyle/>
          <a:p>
            <a:pPr>
              <a:defRPr/>
            </a:pPr>
            <a:fld id="{D285628A-1F22-47FD-9A8D-DF8F51CE94F4}" type="slidenum">
              <a:rPr lang="en-US"/>
              <a:pPr>
                <a:defRPr/>
              </a:pPr>
              <a:t>10</a:t>
            </a:fld>
            <a:endParaRPr lang="en-US"/>
          </a:p>
        </p:txBody>
      </p:sp>
    </p:spTree>
    <p:extLst>
      <p:ext uri="{BB962C8B-B14F-4D97-AF65-F5344CB8AC3E}">
        <p14:creationId xmlns:p14="http://schemas.microsoft.com/office/powerpoint/2010/main" val="2113664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4007" y="0"/>
            <a:ext cx="10972800" cy="981242"/>
          </a:xfrm>
        </p:spPr>
        <p:txBody>
          <a:bodyPr/>
          <a:lstStyle/>
          <a:p>
            <a:pPr eaLnBrk="1" hangingPunct="1"/>
            <a:r>
              <a:rPr lang="en-US" sz="3600" b="1" dirty="0">
                <a:latin typeface="Times New Roman" pitchFamily="18" charset="0"/>
                <a:cs typeface="Times New Roman" pitchFamily="18" charset="0"/>
              </a:rPr>
              <a:t>Implementation</a:t>
            </a:r>
          </a:p>
        </p:txBody>
      </p:sp>
      <p:sp>
        <p:nvSpPr>
          <p:cNvPr id="11267" name="Content Placeholder 2"/>
          <p:cNvSpPr>
            <a:spLocks noGrp="1"/>
          </p:cNvSpPr>
          <p:nvPr>
            <p:ph idx="1"/>
          </p:nvPr>
        </p:nvSpPr>
        <p:spPr>
          <a:xfrm>
            <a:off x="312821" y="981242"/>
            <a:ext cx="11470105" cy="5375108"/>
          </a:xfrm>
          <a:ln>
            <a:noFill/>
          </a:ln>
        </p:spPr>
        <p:txBody>
          <a:bodyPr/>
          <a:lstStyle/>
          <a:p>
            <a:pPr marL="0" indent="0">
              <a:buNone/>
            </a:pPr>
            <a:r>
              <a:rPr lang="en-US" sz="2400" b="1" dirty="0">
                <a:latin typeface="Times New Roman" panose="02020603050405020304" pitchFamily="18" charset="0"/>
                <a:cs typeface="Times New Roman" panose="02020603050405020304" pitchFamily="18" charset="0"/>
              </a:rPr>
              <a:t>Module Development:</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Designed and developed frontend interface for user interaction </a:t>
            </a:r>
          </a:p>
          <a:p>
            <a:pPr algn="just"/>
            <a:r>
              <a:rPr lang="en-US" sz="2400" dirty="0">
                <a:latin typeface="Times New Roman" panose="02020603050405020304" pitchFamily="18" charset="0"/>
                <a:cs typeface="Times New Roman" panose="02020603050405020304" pitchFamily="18" charset="0"/>
              </a:rPr>
              <a:t>Built backend APIs using Flask for request handling </a:t>
            </a:r>
          </a:p>
          <a:p>
            <a:pPr algn="just"/>
            <a:r>
              <a:rPr lang="en-US" sz="2400" dirty="0">
                <a:latin typeface="Times New Roman" panose="02020603050405020304" pitchFamily="18" charset="0"/>
                <a:cs typeface="Times New Roman" panose="02020603050405020304" pitchFamily="18" charset="0"/>
              </a:rPr>
              <a:t>Integrated AI/ML models for intelligent processing </a:t>
            </a:r>
          </a:p>
          <a:p>
            <a:pPr algn="just"/>
            <a:r>
              <a:rPr lang="en-US" sz="2400" dirty="0">
                <a:latin typeface="Times New Roman" panose="02020603050405020304" pitchFamily="18" charset="0"/>
                <a:cs typeface="Times New Roman" panose="02020603050405020304" pitchFamily="18" charset="0"/>
              </a:rPr>
              <a:t>Connected system with database for data storage and retrieval </a:t>
            </a: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Core Functionality:</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User inputs are captured and processed through the system </a:t>
            </a:r>
          </a:p>
          <a:p>
            <a:r>
              <a:rPr lang="en-US" sz="2400" dirty="0">
                <a:latin typeface="Times New Roman" panose="02020603050405020304" pitchFamily="18" charset="0"/>
                <a:cs typeface="Times New Roman" panose="02020603050405020304" pitchFamily="18" charset="0"/>
              </a:rPr>
              <a:t>Backend sends data to the AI model for analysis </a:t>
            </a:r>
          </a:p>
          <a:p>
            <a:r>
              <a:rPr lang="en-US" sz="2400" dirty="0">
                <a:latin typeface="Times New Roman" panose="02020603050405020304" pitchFamily="18" charset="0"/>
                <a:cs typeface="Times New Roman" panose="02020603050405020304" pitchFamily="18" charset="0"/>
              </a:rPr>
              <a:t>Model generates responses based on trained logic </a:t>
            </a:r>
          </a:p>
          <a:p>
            <a:r>
              <a:rPr lang="en-US" sz="2400" dirty="0">
                <a:latin typeface="Times New Roman" panose="02020603050405020304" pitchFamily="18" charset="0"/>
                <a:cs typeface="Times New Roman" panose="02020603050405020304" pitchFamily="18" charset="0"/>
              </a:rPr>
              <a:t>Output is displayed to the user in real-time </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D285628A-1F22-47FD-9A8D-DF8F51CE94F4}" type="slidenum">
              <a:rPr lang="en-US"/>
              <a:pPr>
                <a:defRPr/>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14FD3-3701-FE0D-E3F1-AA8E65A3DCB9}"/>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8FBC294B-3710-A932-E04A-1624A0AEF432}"/>
              </a:ext>
            </a:extLst>
          </p:cNvPr>
          <p:cNvSpPr>
            <a:spLocks noGrp="1"/>
          </p:cNvSpPr>
          <p:nvPr>
            <p:ph type="title"/>
          </p:nvPr>
        </p:nvSpPr>
        <p:spPr>
          <a:xfrm>
            <a:off x="54007" y="0"/>
            <a:ext cx="10972800" cy="1143000"/>
          </a:xfrm>
        </p:spPr>
        <p:txBody>
          <a:bodyPr/>
          <a:lstStyle/>
          <a:p>
            <a:pPr eaLnBrk="1" hangingPunct="1"/>
            <a:r>
              <a:rPr lang="en-IN" sz="3600" b="1" dirty="0">
                <a:latin typeface="Times New Roman" panose="02020603050405020304" pitchFamily="18" charset="0"/>
                <a:cs typeface="Times New Roman" panose="02020603050405020304" pitchFamily="18" charset="0"/>
              </a:rPr>
              <a:t> Expected Results &amp; Outcomes</a:t>
            </a:r>
            <a:endParaRPr lang="en-US" sz="3600" b="1" dirty="0">
              <a:latin typeface="Times New Roman" panose="02020603050405020304" pitchFamily="18" charset="0"/>
              <a:cs typeface="Times New Roman" pitchFamily="18" charset="0"/>
            </a:endParaRPr>
          </a:p>
        </p:txBody>
      </p:sp>
      <p:sp>
        <p:nvSpPr>
          <p:cNvPr id="11267" name="Content Placeholder 2">
            <a:extLst>
              <a:ext uri="{FF2B5EF4-FFF2-40B4-BE49-F238E27FC236}">
                <a16:creationId xmlns:a16="http://schemas.microsoft.com/office/drawing/2014/main" id="{96FAAD0F-E881-A077-85CC-EEE0C7EBB208}"/>
              </a:ext>
            </a:extLst>
          </p:cNvPr>
          <p:cNvSpPr>
            <a:spLocks noGrp="1"/>
          </p:cNvSpPr>
          <p:nvPr>
            <p:ph idx="1"/>
          </p:nvPr>
        </p:nvSpPr>
        <p:spPr>
          <a:xfrm>
            <a:off x="312821" y="1226916"/>
            <a:ext cx="11470105" cy="5129434"/>
          </a:xfrm>
          <a:ln>
            <a:noFill/>
          </a:ln>
        </p:spPr>
        <p:txBody>
          <a:bodyPr/>
          <a:lstStyle/>
          <a:p>
            <a:pPr marL="0" indent="0" algn="just">
              <a:buNone/>
            </a:pPr>
            <a:r>
              <a:rPr lang="en-US" sz="2000" b="1" dirty="0">
                <a:latin typeface="Times New Roman" panose="02020603050405020304" pitchFamily="18" charset="0"/>
                <a:cs typeface="Times New Roman" panose="02020603050405020304" pitchFamily="18" charset="0"/>
              </a:rPr>
              <a:t>Project Results:</a:t>
            </a:r>
          </a:p>
          <a:p>
            <a:pPr algn="just"/>
            <a:r>
              <a:rPr lang="en-US" sz="1800" dirty="0">
                <a:latin typeface="Times New Roman" panose="02020603050405020304" pitchFamily="18" charset="0"/>
                <a:cs typeface="Times New Roman" panose="02020603050405020304" pitchFamily="18" charset="0"/>
              </a:rPr>
              <a:t>Successfully developed a functional AI-powered intelligent agent </a:t>
            </a:r>
          </a:p>
          <a:p>
            <a:pPr algn="just"/>
            <a:r>
              <a:rPr lang="en-US" sz="1800" dirty="0">
                <a:latin typeface="Times New Roman" panose="02020603050405020304" pitchFamily="18" charset="0"/>
                <a:cs typeface="Times New Roman" panose="02020603050405020304" pitchFamily="18" charset="0"/>
              </a:rPr>
              <a:t>System provides accurate and real-time responses </a:t>
            </a:r>
          </a:p>
          <a:p>
            <a:pPr algn="just"/>
            <a:r>
              <a:rPr lang="en-US" sz="1800" dirty="0">
                <a:latin typeface="Times New Roman" panose="02020603050405020304" pitchFamily="18" charset="0"/>
                <a:cs typeface="Times New Roman" panose="02020603050405020304" pitchFamily="18" charset="0"/>
              </a:rPr>
              <a:t>Achieved efficient task automation and reduced manual effort </a:t>
            </a:r>
          </a:p>
          <a:p>
            <a:pPr algn="just"/>
            <a:r>
              <a:rPr lang="en-US" sz="1800" dirty="0">
                <a:latin typeface="Times New Roman" panose="02020603050405020304" pitchFamily="18" charset="0"/>
                <a:cs typeface="Times New Roman" panose="02020603050405020304" pitchFamily="18" charset="0"/>
              </a:rPr>
              <a:t>Smooth integration of frontend, backend, and AI modules</a:t>
            </a:r>
            <a:r>
              <a:rPr lang="en-US" sz="1800" dirty="0"/>
              <a:t> </a:t>
            </a:r>
          </a:p>
          <a:p>
            <a:endParaRPr lang="en-US" sz="1800" b="1" dirty="0"/>
          </a:p>
          <a:p>
            <a:pPr marL="0" indent="0">
              <a:buNone/>
            </a:pPr>
            <a:r>
              <a:rPr lang="en-US" sz="2000" b="1" dirty="0">
                <a:latin typeface="Times New Roman" panose="02020603050405020304" pitchFamily="18" charset="0"/>
                <a:cs typeface="Times New Roman" panose="02020603050405020304" pitchFamily="18" charset="0"/>
              </a:rPr>
              <a:t>Performance &amp; Impact:</a:t>
            </a:r>
          </a:p>
          <a:p>
            <a:r>
              <a:rPr lang="en-US" sz="1800" dirty="0">
                <a:latin typeface="Times New Roman" panose="02020603050405020304" pitchFamily="18" charset="0"/>
                <a:cs typeface="Times New Roman" panose="02020603050405020304" pitchFamily="18" charset="0"/>
              </a:rPr>
              <a:t>Improved response time and system efficiency </a:t>
            </a:r>
          </a:p>
          <a:p>
            <a:r>
              <a:rPr lang="en-US" sz="1800" dirty="0">
                <a:latin typeface="Times New Roman" panose="02020603050405020304" pitchFamily="18" charset="0"/>
                <a:cs typeface="Times New Roman" panose="02020603050405020304" pitchFamily="18" charset="0"/>
              </a:rPr>
              <a:t>Reliable handling of user inputs and data processing </a:t>
            </a:r>
          </a:p>
          <a:p>
            <a:r>
              <a:rPr lang="en-US" sz="1800" dirty="0">
                <a:latin typeface="Times New Roman" panose="02020603050405020304" pitchFamily="18" charset="0"/>
                <a:cs typeface="Times New Roman" panose="02020603050405020304" pitchFamily="18" charset="0"/>
              </a:rPr>
              <a:t>Scalable design for future enhancements </a:t>
            </a:r>
          </a:p>
          <a:p>
            <a:pPr marL="0" indent="0">
              <a:buNone/>
            </a:pPr>
            <a:endParaRPr lang="en-US" sz="1800" b="1" dirty="0"/>
          </a:p>
          <a:p>
            <a:pPr marL="0" indent="0">
              <a:buNone/>
            </a:pPr>
            <a:r>
              <a:rPr lang="en-US" sz="2000" b="1" dirty="0">
                <a:latin typeface="Times New Roman" panose="02020603050405020304" pitchFamily="18" charset="0"/>
                <a:cs typeface="Times New Roman" panose="02020603050405020304" pitchFamily="18" charset="0"/>
              </a:rPr>
              <a:t>Deliverables:</a:t>
            </a:r>
          </a:p>
          <a:p>
            <a:r>
              <a:rPr lang="en-US" sz="1800" dirty="0">
                <a:latin typeface="Times New Roman" panose="02020603050405020304" pitchFamily="18" charset="0"/>
                <a:cs typeface="Times New Roman" panose="02020603050405020304" pitchFamily="18" charset="0"/>
              </a:rPr>
              <a:t>Working application prototype </a:t>
            </a:r>
          </a:p>
          <a:p>
            <a:r>
              <a:rPr lang="en-US" sz="1800" dirty="0">
                <a:latin typeface="Times New Roman" panose="02020603050405020304" pitchFamily="18" charset="0"/>
                <a:cs typeface="Times New Roman" panose="02020603050405020304" pitchFamily="18" charset="0"/>
              </a:rPr>
              <a:t>Tested and validated system </a:t>
            </a:r>
          </a:p>
          <a:p>
            <a:r>
              <a:rPr lang="en-US" sz="1800" dirty="0">
                <a:latin typeface="Times New Roman" panose="02020603050405020304" pitchFamily="18" charset="0"/>
                <a:cs typeface="Times New Roman" panose="02020603050405020304" pitchFamily="18" charset="0"/>
              </a:rPr>
              <a:t>Documentation and project report</a:t>
            </a:r>
          </a:p>
          <a:p>
            <a:pPr marL="0" indent="0">
              <a:buNone/>
            </a:pPr>
            <a:r>
              <a:rPr lang="en-US" sz="1800" dirty="0">
                <a:latin typeface="Times New Roman" panose="020206030504050203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E8A2A559-EBE3-E75E-FAE1-4CB48974AC21}"/>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id="{78A03664-7BAB-E20C-09ED-5E3137163AED}"/>
              </a:ext>
            </a:extLst>
          </p:cNvPr>
          <p:cNvSpPr>
            <a:spLocks noGrp="1"/>
          </p:cNvSpPr>
          <p:nvPr>
            <p:ph type="sldNum" sz="quarter" idx="12"/>
          </p:nvPr>
        </p:nvSpPr>
        <p:spPr/>
        <p:txBody>
          <a:bodyPr/>
          <a:lstStyle/>
          <a:p>
            <a:pPr>
              <a:defRPr/>
            </a:pPr>
            <a:fld id="{D285628A-1F22-47FD-9A8D-DF8F51CE94F4}" type="slidenum">
              <a:rPr lang="en-US"/>
              <a:pPr>
                <a:defRPr/>
              </a:pPr>
              <a:t>12</a:t>
            </a:fld>
            <a:endParaRPr lang="en-US"/>
          </a:p>
        </p:txBody>
      </p:sp>
    </p:spTree>
    <p:extLst>
      <p:ext uri="{BB962C8B-B14F-4D97-AF65-F5344CB8AC3E}">
        <p14:creationId xmlns:p14="http://schemas.microsoft.com/office/powerpoint/2010/main" val="3895421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6D992-886C-5ABA-87B7-55C91C47AF1B}"/>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CCF9E90B-0A07-ECC0-671E-86FB2F39323A}"/>
              </a:ext>
            </a:extLst>
          </p:cNvPr>
          <p:cNvSpPr>
            <a:spLocks noGrp="1"/>
          </p:cNvSpPr>
          <p:nvPr>
            <p:ph type="title"/>
          </p:nvPr>
        </p:nvSpPr>
        <p:spPr>
          <a:xfrm>
            <a:off x="54007" y="-60960"/>
            <a:ext cx="10972800" cy="1143000"/>
          </a:xfrm>
        </p:spPr>
        <p:txBody>
          <a:bodyPr/>
          <a:lstStyle/>
          <a:p>
            <a:pPr eaLnBrk="1" hangingPunct="1"/>
            <a:r>
              <a:rPr lang="en-US" sz="3600" b="1" dirty="0">
                <a:latin typeface="Times New Roman" pitchFamily="18" charset="0"/>
                <a:cs typeface="Times New Roman" pitchFamily="18" charset="0"/>
              </a:rPr>
              <a:t>Challenges Faced</a:t>
            </a:r>
          </a:p>
        </p:txBody>
      </p:sp>
      <p:sp>
        <p:nvSpPr>
          <p:cNvPr id="11267" name="Content Placeholder 2">
            <a:extLst>
              <a:ext uri="{FF2B5EF4-FFF2-40B4-BE49-F238E27FC236}">
                <a16:creationId xmlns:a16="http://schemas.microsoft.com/office/drawing/2014/main" id="{390D3ECE-D348-7416-8941-7066C9D9FA92}"/>
              </a:ext>
            </a:extLst>
          </p:cNvPr>
          <p:cNvSpPr>
            <a:spLocks noGrp="1"/>
          </p:cNvSpPr>
          <p:nvPr>
            <p:ph idx="1"/>
          </p:nvPr>
        </p:nvSpPr>
        <p:spPr>
          <a:xfrm>
            <a:off x="352925" y="844885"/>
            <a:ext cx="10328929" cy="5375108"/>
          </a:xfrm>
          <a:ln>
            <a:noFill/>
          </a:ln>
        </p:spPr>
        <p:txBody>
          <a:bodyPr/>
          <a:lstStyle/>
          <a:p>
            <a:pPr>
              <a:lnSpc>
                <a:spcPct val="150000"/>
              </a:lnSpc>
            </a:pPr>
            <a:r>
              <a:rPr lang="en-US" sz="2400" dirty="0">
                <a:latin typeface="Times New Roman" panose="02020603050405020304" pitchFamily="18" charset="0"/>
                <a:cs typeface="Times New Roman" panose="02020603050405020304" pitchFamily="18" charset="0"/>
              </a:rPr>
              <a:t>Difficulty in understanding and implementing AI/ML models </a:t>
            </a:r>
          </a:p>
          <a:p>
            <a:pPr>
              <a:lnSpc>
                <a:spcPct val="150000"/>
              </a:lnSpc>
            </a:pPr>
            <a:r>
              <a:rPr lang="en-US" sz="2400" dirty="0">
                <a:latin typeface="Times New Roman" panose="02020603050405020304" pitchFamily="18" charset="0"/>
                <a:cs typeface="Times New Roman" panose="02020603050405020304" pitchFamily="18" charset="0"/>
              </a:rPr>
              <a:t>Handling data preprocessing and cleaning for accurate results </a:t>
            </a:r>
          </a:p>
          <a:p>
            <a:pPr>
              <a:lnSpc>
                <a:spcPct val="150000"/>
              </a:lnSpc>
            </a:pPr>
            <a:r>
              <a:rPr lang="en-US" sz="2400" dirty="0">
                <a:latin typeface="Times New Roman" panose="02020603050405020304" pitchFamily="18" charset="0"/>
                <a:cs typeface="Times New Roman" panose="02020603050405020304" pitchFamily="18" charset="0"/>
              </a:rPr>
              <a:t>Integrating frontend, backend, and AI modules smoothly </a:t>
            </a:r>
          </a:p>
          <a:p>
            <a:pPr>
              <a:lnSpc>
                <a:spcPct val="150000"/>
              </a:lnSpc>
            </a:pPr>
            <a:r>
              <a:rPr lang="en-US" sz="2400" dirty="0">
                <a:latin typeface="Times New Roman" panose="02020603050405020304" pitchFamily="18" charset="0"/>
                <a:cs typeface="Times New Roman" panose="02020603050405020304" pitchFamily="18" charset="0"/>
              </a:rPr>
              <a:t>Managing real-time response and system performance </a:t>
            </a:r>
          </a:p>
          <a:p>
            <a:pPr>
              <a:lnSpc>
                <a:spcPct val="150000"/>
              </a:lnSpc>
            </a:pPr>
            <a:r>
              <a:rPr lang="en-US" sz="2400" dirty="0">
                <a:latin typeface="Times New Roman" panose="02020603050405020304" pitchFamily="18" charset="0"/>
                <a:cs typeface="Times New Roman" panose="02020603050405020304" pitchFamily="18" charset="0"/>
              </a:rPr>
              <a:t>Debugging errors and resolving unexpected technical issues </a:t>
            </a:r>
          </a:p>
          <a:p>
            <a:pPr>
              <a:lnSpc>
                <a:spcPct val="150000"/>
              </a:lnSpc>
            </a:pPr>
            <a:r>
              <a:rPr lang="en-US" sz="2400" dirty="0">
                <a:latin typeface="Times New Roman" panose="02020603050405020304" pitchFamily="18" charset="0"/>
                <a:cs typeface="Times New Roman" panose="02020603050405020304" pitchFamily="18" charset="0"/>
              </a:rPr>
              <a:t>Time constraints while balancing learning and development</a:t>
            </a:r>
          </a:p>
          <a:p>
            <a:pPr marL="0" indent="0" algn="just">
              <a:spcBef>
                <a:spcPts val="0"/>
              </a:spcBef>
              <a:buNone/>
            </a:pPr>
            <a:endParaRPr lang="en-US"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CC67413-401C-7999-644C-86DDA523EF15}"/>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id="{F0A324B4-66BB-373A-D8A6-2E50826A84D9}"/>
              </a:ext>
            </a:extLst>
          </p:cNvPr>
          <p:cNvSpPr>
            <a:spLocks noGrp="1"/>
          </p:cNvSpPr>
          <p:nvPr>
            <p:ph type="sldNum" sz="quarter" idx="12"/>
          </p:nvPr>
        </p:nvSpPr>
        <p:spPr/>
        <p:txBody>
          <a:bodyPr/>
          <a:lstStyle/>
          <a:p>
            <a:pPr>
              <a:defRPr/>
            </a:pPr>
            <a:fld id="{D285628A-1F22-47FD-9A8D-DF8F51CE94F4}" type="slidenum">
              <a:rPr lang="en-US"/>
              <a:pPr>
                <a:defRPr/>
              </a:pPr>
              <a:t>13</a:t>
            </a:fld>
            <a:endParaRPr lang="en-US"/>
          </a:p>
        </p:txBody>
      </p:sp>
    </p:spTree>
    <p:extLst>
      <p:ext uri="{BB962C8B-B14F-4D97-AF65-F5344CB8AC3E}">
        <p14:creationId xmlns:p14="http://schemas.microsoft.com/office/powerpoint/2010/main" val="3677498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16F12-2F1A-EC30-E07B-6E0F081F1F81}"/>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C78A24E0-EA1A-6871-175E-DC72917F792B}"/>
              </a:ext>
            </a:extLst>
          </p:cNvPr>
          <p:cNvSpPr>
            <a:spLocks noGrp="1"/>
          </p:cNvSpPr>
          <p:nvPr>
            <p:ph type="title"/>
          </p:nvPr>
        </p:nvSpPr>
        <p:spPr>
          <a:xfrm>
            <a:off x="54007" y="-60960"/>
            <a:ext cx="10972800" cy="1143000"/>
          </a:xfrm>
        </p:spPr>
        <p:txBody>
          <a:bodyPr/>
          <a:lstStyle/>
          <a:p>
            <a:pPr eaLnBrk="1" hangingPunct="1"/>
            <a:r>
              <a:rPr lang="en-IN" sz="3600" b="1" dirty="0">
                <a:latin typeface="Times New Roman" panose="02020603050405020304" pitchFamily="18" charset="0"/>
                <a:cs typeface="Times New Roman" panose="02020603050405020304" pitchFamily="18" charset="0"/>
              </a:rPr>
              <a:t>Learning Outcomes</a:t>
            </a:r>
            <a:endParaRPr lang="en-US" sz="3600" b="1" dirty="0">
              <a:latin typeface="Times New Roman" panose="02020603050405020304" pitchFamily="18" charset="0"/>
              <a:cs typeface="Times New Roman" pitchFamily="18" charset="0"/>
            </a:endParaRPr>
          </a:p>
        </p:txBody>
      </p:sp>
      <p:sp>
        <p:nvSpPr>
          <p:cNvPr id="11267" name="Content Placeholder 2">
            <a:extLst>
              <a:ext uri="{FF2B5EF4-FFF2-40B4-BE49-F238E27FC236}">
                <a16:creationId xmlns:a16="http://schemas.microsoft.com/office/drawing/2014/main" id="{227A8869-C44B-95D0-1B03-D56FE0DBDF1A}"/>
              </a:ext>
            </a:extLst>
          </p:cNvPr>
          <p:cNvSpPr>
            <a:spLocks noGrp="1"/>
          </p:cNvSpPr>
          <p:nvPr>
            <p:ph idx="1"/>
          </p:nvPr>
        </p:nvSpPr>
        <p:spPr>
          <a:xfrm>
            <a:off x="352925" y="844885"/>
            <a:ext cx="10262427" cy="5375108"/>
          </a:xfrm>
          <a:ln>
            <a:noFill/>
          </a:ln>
        </p:spPr>
        <p:txBody>
          <a:bodyPr/>
          <a:lstStyle/>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Gained hands-on experience in Artificial Intelligence &amp; Machine Learning </a:t>
            </a: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Improved skills in Python programming and data handling </a:t>
            </a: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Learned to develop and integrate AI models with real-world applications </a:t>
            </a: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Understood system design, architecture, and API integration </a:t>
            </a: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Enhanced problem-solving and debugging skills </a:t>
            </a: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Improved team collaboration and communication </a:t>
            </a:r>
          </a:p>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Gained exposure to industry tools and development practices</a:t>
            </a:r>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61313C1-1145-F17C-6AB0-7BB4EE664162}"/>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id="{AAA908C3-1250-A18F-E513-93C615A5A1A9}"/>
              </a:ext>
            </a:extLst>
          </p:cNvPr>
          <p:cNvSpPr>
            <a:spLocks noGrp="1"/>
          </p:cNvSpPr>
          <p:nvPr>
            <p:ph type="sldNum" sz="quarter" idx="12"/>
          </p:nvPr>
        </p:nvSpPr>
        <p:spPr/>
        <p:txBody>
          <a:bodyPr/>
          <a:lstStyle/>
          <a:p>
            <a:pPr>
              <a:defRPr/>
            </a:pPr>
            <a:fld id="{D285628A-1F22-47FD-9A8D-DF8F51CE94F4}" type="slidenum">
              <a:rPr lang="en-US"/>
              <a:pPr>
                <a:defRPr/>
              </a:pPr>
              <a:t>14</a:t>
            </a:fld>
            <a:endParaRPr lang="en-US"/>
          </a:p>
        </p:txBody>
      </p:sp>
    </p:spTree>
    <p:extLst>
      <p:ext uri="{BB962C8B-B14F-4D97-AF65-F5344CB8AC3E}">
        <p14:creationId xmlns:p14="http://schemas.microsoft.com/office/powerpoint/2010/main" val="748514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5E6A2-4C85-EA3F-2D55-9EE23A077E3B}"/>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FEEC93F5-4019-3BB3-6849-E6542BAEE217}"/>
              </a:ext>
            </a:extLst>
          </p:cNvPr>
          <p:cNvSpPr>
            <a:spLocks noGrp="1"/>
          </p:cNvSpPr>
          <p:nvPr>
            <p:ph type="title"/>
          </p:nvPr>
        </p:nvSpPr>
        <p:spPr>
          <a:xfrm>
            <a:off x="54007" y="-60960"/>
            <a:ext cx="10972800" cy="1143000"/>
          </a:xfrm>
        </p:spPr>
        <p:txBody>
          <a:bodyPr/>
          <a:lstStyle/>
          <a:p>
            <a:pPr eaLnBrk="1" hangingPunct="1"/>
            <a:br>
              <a:rPr lang="en-US" sz="3600" b="1" dirty="0">
                <a:latin typeface="Times New Roman" pitchFamily="18" charset="0"/>
                <a:cs typeface="Times New Roman" pitchFamily="18" charset="0"/>
              </a:rPr>
            </a:br>
            <a:r>
              <a:rPr lang="en-US" sz="3600" b="1" dirty="0">
                <a:latin typeface="Times New Roman" pitchFamily="18" charset="0"/>
                <a:cs typeface="Times New Roman" pitchFamily="18" charset="0"/>
              </a:rPr>
              <a:t>Conclusion</a:t>
            </a:r>
            <a:br>
              <a:rPr lang="en-US" sz="3600" b="1" dirty="0">
                <a:latin typeface="Times New Roman" pitchFamily="18" charset="0"/>
                <a:cs typeface="Times New Roman" pitchFamily="18" charset="0"/>
              </a:rPr>
            </a:br>
            <a:endParaRPr lang="en-US" sz="3600" b="1" dirty="0">
              <a:latin typeface="Times New Roman" pitchFamily="18" charset="0"/>
              <a:cs typeface="Times New Roman" pitchFamily="18" charset="0"/>
            </a:endParaRPr>
          </a:p>
        </p:txBody>
      </p:sp>
      <p:sp>
        <p:nvSpPr>
          <p:cNvPr id="11267" name="Content Placeholder 2">
            <a:extLst>
              <a:ext uri="{FF2B5EF4-FFF2-40B4-BE49-F238E27FC236}">
                <a16:creationId xmlns:a16="http://schemas.microsoft.com/office/drawing/2014/main" id="{B831764A-508A-0F01-00AF-204A20DFC8E6}"/>
              </a:ext>
            </a:extLst>
          </p:cNvPr>
          <p:cNvSpPr>
            <a:spLocks noGrp="1"/>
          </p:cNvSpPr>
          <p:nvPr>
            <p:ph idx="1"/>
          </p:nvPr>
        </p:nvSpPr>
        <p:spPr>
          <a:xfrm>
            <a:off x="254643" y="1203767"/>
            <a:ext cx="11632557" cy="5016226"/>
          </a:xfrm>
          <a:ln>
            <a:noFill/>
          </a:ln>
        </p:spPr>
        <p:txBody>
          <a:bodyPr/>
          <a:lstStyle/>
          <a:p>
            <a:pPr algn="just">
              <a:lnSpc>
                <a:spcPct val="150000"/>
              </a:lnSpc>
            </a:pPr>
            <a:r>
              <a:rPr lang="en-US" sz="2000" dirty="0">
                <a:latin typeface="Times New Roman" panose="02020603050405020304" pitchFamily="18" charset="0"/>
                <a:cs typeface="Times New Roman" panose="02020603050405020304" pitchFamily="18" charset="0"/>
              </a:rPr>
              <a:t>Successfully developed an AI-powered intelligent agent for task automation</a:t>
            </a:r>
          </a:p>
          <a:p>
            <a:pPr algn="just">
              <a:lnSpc>
                <a:spcPct val="150000"/>
              </a:lnSpc>
            </a:pPr>
            <a:r>
              <a:rPr lang="en-US" sz="2000" dirty="0">
                <a:latin typeface="Times New Roman" panose="02020603050405020304" pitchFamily="18" charset="0"/>
                <a:cs typeface="Times New Roman" panose="02020603050405020304" pitchFamily="18" charset="0"/>
              </a:rPr>
              <a:t> Achieved the objective of building a real-time, efficient, and scalable system </a:t>
            </a:r>
          </a:p>
          <a:p>
            <a:pPr algn="just">
              <a:lnSpc>
                <a:spcPct val="150000"/>
              </a:lnSpc>
            </a:pPr>
            <a:r>
              <a:rPr lang="en-US" sz="2000" dirty="0">
                <a:latin typeface="Times New Roman" panose="02020603050405020304" pitchFamily="18" charset="0"/>
                <a:cs typeface="Times New Roman" panose="02020603050405020304" pitchFamily="18" charset="0"/>
              </a:rPr>
              <a:t>Demonstrated the practical application of AI/ML techniques in solving real-world problems </a:t>
            </a:r>
          </a:p>
          <a:p>
            <a:pPr algn="just">
              <a:lnSpc>
                <a:spcPct val="150000"/>
              </a:lnSpc>
            </a:pPr>
            <a:r>
              <a:rPr lang="en-US" sz="2000" dirty="0">
                <a:latin typeface="Times New Roman" panose="02020603050405020304" pitchFamily="18" charset="0"/>
                <a:cs typeface="Times New Roman" panose="02020603050405020304" pitchFamily="18" charset="0"/>
              </a:rPr>
              <a:t>Integrated frontend, backend, and AI modules into a complete working solution </a:t>
            </a:r>
          </a:p>
          <a:p>
            <a:pPr algn="just">
              <a:lnSpc>
                <a:spcPct val="150000"/>
              </a:lnSpc>
            </a:pPr>
            <a:r>
              <a:rPr lang="en-US" sz="2000" dirty="0">
                <a:latin typeface="Times New Roman" panose="02020603050405020304" pitchFamily="18" charset="0"/>
                <a:cs typeface="Times New Roman" panose="02020603050405020304" pitchFamily="18" charset="0"/>
              </a:rPr>
              <a:t>Gained valuable technical and professional experience through the project</a:t>
            </a:r>
          </a:p>
        </p:txBody>
      </p:sp>
      <p:sp>
        <p:nvSpPr>
          <p:cNvPr id="4" name="Footer Placeholder 3">
            <a:extLst>
              <a:ext uri="{FF2B5EF4-FFF2-40B4-BE49-F238E27FC236}">
                <a16:creationId xmlns:a16="http://schemas.microsoft.com/office/drawing/2014/main" id="{65A62410-195F-38FD-5C04-B76A02028D4F}"/>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id="{30683009-2FC1-CF1D-7428-99E4034F127C}"/>
              </a:ext>
            </a:extLst>
          </p:cNvPr>
          <p:cNvSpPr>
            <a:spLocks noGrp="1"/>
          </p:cNvSpPr>
          <p:nvPr>
            <p:ph type="sldNum" sz="quarter" idx="12"/>
          </p:nvPr>
        </p:nvSpPr>
        <p:spPr/>
        <p:txBody>
          <a:bodyPr/>
          <a:lstStyle/>
          <a:p>
            <a:pPr>
              <a:defRPr/>
            </a:pPr>
            <a:fld id="{D285628A-1F22-47FD-9A8D-DF8F51CE94F4}" type="slidenum">
              <a:rPr lang="en-US"/>
              <a:pPr>
                <a:defRPr/>
              </a:pPr>
              <a:t>15</a:t>
            </a:fld>
            <a:endParaRPr lang="en-US"/>
          </a:p>
        </p:txBody>
      </p:sp>
    </p:spTree>
    <p:extLst>
      <p:ext uri="{BB962C8B-B14F-4D97-AF65-F5344CB8AC3E}">
        <p14:creationId xmlns:p14="http://schemas.microsoft.com/office/powerpoint/2010/main" val="3166866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F7AD0-99C7-698E-9C30-2B73D050B05A}"/>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926F12B8-4511-1775-9EEC-04747A871A37}"/>
              </a:ext>
            </a:extLst>
          </p:cNvPr>
          <p:cNvSpPr>
            <a:spLocks noGrp="1"/>
          </p:cNvSpPr>
          <p:nvPr>
            <p:ph type="title"/>
          </p:nvPr>
        </p:nvSpPr>
        <p:spPr>
          <a:xfrm>
            <a:off x="54007" y="-60960"/>
            <a:ext cx="10972800" cy="1143000"/>
          </a:xfrm>
        </p:spPr>
        <p:txBody>
          <a:bodyPr/>
          <a:lstStyle/>
          <a:p>
            <a:pPr eaLnBrk="1" hangingPunct="1"/>
            <a:r>
              <a:rPr lang="en-US" sz="3600" b="1" dirty="0">
                <a:latin typeface="Times New Roman" pitchFamily="18" charset="0"/>
                <a:cs typeface="Times New Roman" pitchFamily="18" charset="0"/>
              </a:rPr>
              <a:t>Future Enhancement</a:t>
            </a:r>
          </a:p>
        </p:txBody>
      </p:sp>
      <p:sp>
        <p:nvSpPr>
          <p:cNvPr id="11267" name="Content Placeholder 2">
            <a:extLst>
              <a:ext uri="{FF2B5EF4-FFF2-40B4-BE49-F238E27FC236}">
                <a16:creationId xmlns:a16="http://schemas.microsoft.com/office/drawing/2014/main" id="{9AD59C99-9AD8-CFB1-1C24-B0CB4E868221}"/>
              </a:ext>
            </a:extLst>
          </p:cNvPr>
          <p:cNvSpPr>
            <a:spLocks noGrp="1"/>
          </p:cNvSpPr>
          <p:nvPr>
            <p:ph idx="1"/>
          </p:nvPr>
        </p:nvSpPr>
        <p:spPr>
          <a:xfrm>
            <a:off x="341348" y="1111170"/>
            <a:ext cx="11372227" cy="5224569"/>
          </a:xfrm>
          <a:ln>
            <a:noFill/>
          </a:ln>
        </p:spPr>
        <p:txBody>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In the future, this project can be enhanced by improving the accuracy and efficiency of the AI models through advanced algorithms and larger datasets. Additional features such as voice-based interaction, multilingual support, and real-time analytics can be integrated to make the system more user-friendly and versatile. The application can also be scaled using cloud technologies to handle a larger number of users and data efficiently. Furthermore, incorporating advanced AI capabilities like deep learning and personalization can significantly improve user experience and make the system more intelligent and adaptive to different use cases.</a:t>
            </a:r>
            <a:endParaRPr lang="en-IN"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4C56CF1-025C-21F0-7C76-D17F5580710D}"/>
              </a:ext>
            </a:extLst>
          </p:cNvPr>
          <p:cNvSpPr>
            <a:spLocks noGrp="1"/>
          </p:cNvSpPr>
          <p:nvPr>
            <p:ph type="ftr" sz="quarter" idx="11"/>
          </p:nvPr>
        </p:nvSpPr>
        <p:spPr/>
        <p:txBody>
          <a:bodyPr/>
          <a:lstStyle/>
          <a:p>
            <a:pPr>
              <a:defRPr/>
            </a:pPr>
            <a:r>
              <a:rPr lang="en-US"/>
              <a:t>Dept. of CSE, SJCIT</a:t>
            </a:r>
          </a:p>
        </p:txBody>
      </p:sp>
      <p:sp>
        <p:nvSpPr>
          <p:cNvPr id="5" name="Slide Number Placeholder 4">
            <a:extLst>
              <a:ext uri="{FF2B5EF4-FFF2-40B4-BE49-F238E27FC236}">
                <a16:creationId xmlns:a16="http://schemas.microsoft.com/office/drawing/2014/main" id="{165ACCD5-8533-F731-4E20-80F7715BABE2}"/>
              </a:ext>
            </a:extLst>
          </p:cNvPr>
          <p:cNvSpPr>
            <a:spLocks noGrp="1"/>
          </p:cNvSpPr>
          <p:nvPr>
            <p:ph type="sldNum" sz="quarter" idx="12"/>
          </p:nvPr>
        </p:nvSpPr>
        <p:spPr/>
        <p:txBody>
          <a:bodyPr/>
          <a:lstStyle/>
          <a:p>
            <a:pPr>
              <a:defRPr/>
            </a:pPr>
            <a:fld id="{D285628A-1F22-47FD-9A8D-DF8F51CE94F4}" type="slidenum">
              <a:rPr lang="en-US"/>
              <a:pPr>
                <a:defRPr/>
              </a:pPr>
              <a:t>16</a:t>
            </a:fld>
            <a:endParaRPr lang="en-US"/>
          </a:p>
        </p:txBody>
      </p:sp>
    </p:spTree>
    <p:extLst>
      <p:ext uri="{BB962C8B-B14F-4D97-AF65-F5344CB8AC3E}">
        <p14:creationId xmlns:p14="http://schemas.microsoft.com/office/powerpoint/2010/main" val="972488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641600"/>
            <a:ext cx="12192000" cy="1574800"/>
          </a:xfrm>
        </p:spPr>
        <p:txBody>
          <a:bodyPr rtlCol="0">
            <a:normAutofit/>
          </a:bodyPr>
          <a:lstStyle/>
          <a:p>
            <a:pPr marL="0" indent="0" algn="ctr" eaLnBrk="1" fontAlgn="auto" hangingPunct="1">
              <a:spcAft>
                <a:spcPts val="0"/>
              </a:spcAft>
              <a:buFont typeface="Arial" pitchFamily="34" charset="0"/>
              <a:buNone/>
              <a:defRPr/>
            </a:pPr>
            <a:r>
              <a:rPr lang="en-US" sz="9600"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 </a:t>
            </a:r>
          </a:p>
        </p:txBody>
      </p:sp>
      <p:sp>
        <p:nvSpPr>
          <p:cNvPr id="4" name="Footer Placeholder 3"/>
          <p:cNvSpPr>
            <a:spLocks noGrp="1"/>
          </p:cNvSpPr>
          <p:nvPr>
            <p:ph type="ftr" sz="quarter" idx="11"/>
          </p:nvPr>
        </p:nvSpPr>
        <p:spPr/>
        <p:txBody>
          <a:bodyPr/>
          <a:lstStyle/>
          <a:p>
            <a:pPr>
              <a:defRPr/>
            </a:pPr>
            <a:r>
              <a:rPr lang="en-US"/>
              <a:t>Dept. of CSE, SJCIT</a:t>
            </a:r>
          </a:p>
        </p:txBody>
      </p:sp>
      <p:sp>
        <p:nvSpPr>
          <p:cNvPr id="5" name="Slide Number Placeholder 4"/>
          <p:cNvSpPr>
            <a:spLocks noGrp="1"/>
          </p:cNvSpPr>
          <p:nvPr>
            <p:ph type="sldNum" sz="quarter" idx="12"/>
          </p:nvPr>
        </p:nvSpPr>
        <p:spPr/>
        <p:txBody>
          <a:bodyPr/>
          <a:lstStyle/>
          <a:p>
            <a:pPr>
              <a:defRPr/>
            </a:pPr>
            <a:fld id="{729643C9-1E9F-4DD0-9B72-36FDA7689087}" type="slidenum">
              <a:rPr lang="en-US"/>
              <a:pPr>
                <a:defRPr/>
              </a:pPr>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3318</TotalTime>
  <Words>1320</Words>
  <Application>Microsoft Office PowerPoint</Application>
  <PresentationFormat>Widescreen</PresentationFormat>
  <Paragraphs>181</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          S J C INSTITUTE OF TECHNOLOGY         DEPARTMENT OF COMPUTER SCIENCE AND ENGINEERING</vt:lpstr>
      <vt:lpstr>CONTENTS</vt:lpstr>
      <vt:lpstr>Organizational Overview – Rooman Technologies</vt:lpstr>
      <vt:lpstr>Internship Details</vt:lpstr>
      <vt:lpstr>Objective of the Internship</vt:lpstr>
      <vt:lpstr>Project Title &amp; Project Description</vt:lpstr>
      <vt:lpstr>Tools &amp; Technologies Used</vt:lpstr>
      <vt:lpstr>Objectives &amp; Methodology</vt:lpstr>
      <vt:lpstr>System Design</vt:lpstr>
      <vt:lpstr>System Design</vt:lpstr>
      <vt:lpstr>Implementation</vt:lpstr>
      <vt:lpstr> Expected Results &amp; Outcomes</vt:lpstr>
      <vt:lpstr>Challenges Faced</vt:lpstr>
      <vt:lpstr>Learning Outcomes</vt:lpstr>
      <vt:lpstr> Conclusion </vt:lpstr>
      <vt:lpstr>Future Enhancement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VYDURYA ANAND</cp:lastModifiedBy>
  <cp:revision>422</cp:revision>
  <cp:lastPrinted>2025-09-09T14:21:53Z</cp:lastPrinted>
  <dcterms:created xsi:type="dcterms:W3CDTF">2018-02-20T14:40:21Z</dcterms:created>
  <dcterms:modified xsi:type="dcterms:W3CDTF">2026-05-06T03:54:11Z</dcterms:modified>
</cp:coreProperties>
</file>